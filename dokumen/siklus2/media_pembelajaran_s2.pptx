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76B8F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76B8F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76B8F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rgbClr val="76B8F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F273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96119" y="598661"/>
            <a:ext cx="1297305" cy="266700"/>
          </a:xfrm>
          <a:custGeom>
            <a:avLst/>
            <a:gdLst/>
            <a:ahLst/>
            <a:cxnLst/>
            <a:rect l="l" t="t" r="r" b="b"/>
            <a:pathLst>
              <a:path w="1297305" h="266700">
                <a:moveTo>
                  <a:pt x="1289507" y="0"/>
                </a:moveTo>
                <a:lnTo>
                  <a:pt x="7679" y="0"/>
                </a:lnTo>
                <a:lnTo>
                  <a:pt x="0" y="7683"/>
                </a:lnTo>
                <a:lnTo>
                  <a:pt x="0" y="17017"/>
                </a:lnTo>
                <a:lnTo>
                  <a:pt x="0" y="258724"/>
                </a:lnTo>
                <a:lnTo>
                  <a:pt x="7679" y="266407"/>
                </a:lnTo>
                <a:lnTo>
                  <a:pt x="1289507" y="266407"/>
                </a:lnTo>
                <a:lnTo>
                  <a:pt x="1297190" y="258724"/>
                </a:lnTo>
                <a:lnTo>
                  <a:pt x="1297190" y="7683"/>
                </a:lnTo>
                <a:lnTo>
                  <a:pt x="1289507" y="0"/>
                </a:lnTo>
                <a:close/>
              </a:path>
            </a:pathLst>
          </a:custGeom>
          <a:solidFill>
            <a:srgbClr val="0724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76B8F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76B8F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F273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2461" y="645501"/>
            <a:ext cx="8239076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76B8F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12412" y="1252829"/>
            <a:ext cx="4528820" cy="13163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76B8F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429000" y="0"/>
            <a:ext cx="5715000" cy="5143500"/>
          </a:xfrm>
          <a:custGeom>
            <a:avLst/>
            <a:gdLst/>
            <a:ahLst/>
            <a:cxnLst/>
            <a:rect l="l" t="t" r="r" b="b"/>
            <a:pathLst>
              <a:path w="5715000" h="5143500">
                <a:moveTo>
                  <a:pt x="0" y="5143500"/>
                </a:moveTo>
                <a:lnTo>
                  <a:pt x="5715000" y="5143500"/>
                </a:lnTo>
                <a:lnTo>
                  <a:pt x="5715000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solidFill>
            <a:srgbClr val="1F273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ts val="3429"/>
              </a:lnSpc>
              <a:spcBef>
                <a:spcPts val="70"/>
              </a:spcBef>
            </a:pPr>
            <a:r>
              <a:rPr dirty="0"/>
              <a:t>Aktivitas</a:t>
            </a:r>
            <a:r>
              <a:rPr dirty="0" spc="-50"/>
              <a:t> </a:t>
            </a:r>
            <a:r>
              <a:rPr dirty="0"/>
              <a:t>Senam</a:t>
            </a:r>
            <a:r>
              <a:rPr dirty="0" spc="-45"/>
              <a:t> </a:t>
            </a:r>
            <a:r>
              <a:rPr dirty="0" spc="-10"/>
              <a:t>Lantai: </a:t>
            </a:r>
            <a:r>
              <a:rPr dirty="0"/>
              <a:t>Menguasai</a:t>
            </a:r>
            <a:r>
              <a:rPr dirty="0" spc="-30"/>
              <a:t> </a:t>
            </a:r>
            <a:r>
              <a:rPr dirty="0"/>
              <a:t>Guling</a:t>
            </a:r>
            <a:r>
              <a:rPr dirty="0" spc="-30"/>
              <a:t> </a:t>
            </a:r>
            <a:r>
              <a:rPr dirty="0" spc="-10"/>
              <a:t>Depan </a:t>
            </a:r>
            <a:r>
              <a:rPr dirty="0"/>
              <a:t>dengan</a:t>
            </a:r>
            <a:r>
              <a:rPr dirty="0" spc="-30"/>
              <a:t> </a:t>
            </a:r>
            <a:r>
              <a:rPr dirty="0"/>
              <a:t>Aman</a:t>
            </a:r>
            <a:r>
              <a:rPr dirty="0" spc="-30"/>
              <a:t> </a:t>
            </a:r>
            <a:r>
              <a:rPr dirty="0"/>
              <a:t>&amp;</a:t>
            </a:r>
            <a:r>
              <a:rPr dirty="0" spc="-30"/>
              <a:t> </a:t>
            </a:r>
            <a:r>
              <a:rPr dirty="0"/>
              <a:t>Percaya</a:t>
            </a:r>
            <a:r>
              <a:rPr dirty="0" spc="-30"/>
              <a:t> </a:t>
            </a:r>
            <a:r>
              <a:rPr dirty="0" spc="-20"/>
              <a:t>Diri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3912412" y="3241814"/>
            <a:ext cx="4451350" cy="575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D5E4EE"/>
                </a:solidFill>
                <a:latin typeface="Arial"/>
                <a:cs typeface="Arial"/>
              </a:rPr>
              <a:t>Modul</a:t>
            </a:r>
            <a:r>
              <a:rPr dirty="0" sz="1100" spc="-3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5E4EE"/>
                </a:solidFill>
                <a:latin typeface="Arial"/>
                <a:cs typeface="Arial"/>
              </a:rPr>
              <a:t>Rencana</a:t>
            </a:r>
            <a:r>
              <a:rPr dirty="0" sz="1100" spc="-3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5E4EE"/>
                </a:solidFill>
                <a:latin typeface="Arial"/>
                <a:cs typeface="Arial"/>
              </a:rPr>
              <a:t>Pembelajaran</a:t>
            </a:r>
            <a:r>
              <a:rPr dirty="0" sz="1100" spc="-3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5E4EE"/>
                </a:solidFill>
                <a:latin typeface="Arial"/>
                <a:cs typeface="Arial"/>
              </a:rPr>
              <a:t>Mendalam</a:t>
            </a:r>
            <a:r>
              <a:rPr dirty="0" sz="1100" spc="-3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5E4EE"/>
                </a:solidFill>
                <a:latin typeface="Arial"/>
                <a:cs typeface="Arial"/>
              </a:rPr>
              <a:t>(RPM)</a:t>
            </a:r>
            <a:r>
              <a:rPr dirty="0" sz="1100" spc="-3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5E4EE"/>
                </a:solidFill>
                <a:latin typeface="Arial"/>
                <a:cs typeface="Arial"/>
              </a:rPr>
              <a:t>—</a:t>
            </a:r>
            <a:r>
              <a:rPr dirty="0" sz="110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5E4EE"/>
                </a:solidFill>
                <a:latin typeface="Arial"/>
                <a:cs typeface="Arial"/>
              </a:rPr>
              <a:t>Kelas</a:t>
            </a:r>
            <a:r>
              <a:rPr dirty="0" sz="1100" spc="-30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5E4EE"/>
                </a:solidFill>
                <a:latin typeface="Arial"/>
                <a:cs typeface="Arial"/>
              </a:rPr>
              <a:t>VIII</a:t>
            </a:r>
            <a:r>
              <a:rPr dirty="0" sz="1100" spc="-30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5E4EE"/>
                </a:solidFill>
                <a:latin typeface="Arial"/>
                <a:cs typeface="Arial"/>
              </a:rPr>
              <a:t>/</a:t>
            </a:r>
            <a:r>
              <a:rPr dirty="0" sz="1100" spc="-30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5E4EE"/>
                </a:solidFill>
                <a:latin typeface="Arial"/>
                <a:cs typeface="Arial"/>
              </a:rPr>
              <a:t>Fase</a:t>
            </a:r>
            <a:r>
              <a:rPr dirty="0" sz="1100" spc="-30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100" spc="-50" b="1">
                <a:solidFill>
                  <a:srgbClr val="D5E4EE"/>
                </a:solidFill>
                <a:latin typeface="Arial"/>
                <a:cs typeface="Arial"/>
              </a:rPr>
              <a:t>D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solidFill>
                  <a:srgbClr val="D5E4EE"/>
                </a:solidFill>
                <a:latin typeface="Arial"/>
                <a:cs typeface="Arial"/>
              </a:rPr>
              <a:t>Oleh:</a:t>
            </a:r>
            <a:r>
              <a:rPr dirty="0" sz="110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5E4EE"/>
                </a:solidFill>
                <a:latin typeface="Arial"/>
                <a:cs typeface="Arial"/>
              </a:rPr>
              <a:t>Ariesta</a:t>
            </a:r>
            <a:r>
              <a:rPr dirty="0" sz="1100" spc="-25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5E4EE"/>
                </a:solidFill>
                <a:latin typeface="Arial"/>
                <a:cs typeface="Arial"/>
              </a:rPr>
              <a:t>Vandera,</a:t>
            </a:r>
            <a:r>
              <a:rPr dirty="0" sz="1100" spc="-20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D5E4EE"/>
                </a:solidFill>
                <a:latin typeface="Arial"/>
                <a:cs typeface="Arial"/>
              </a:rPr>
              <a:t>S.</a:t>
            </a:r>
            <a:r>
              <a:rPr dirty="0" sz="1100" spc="-25" b="1">
                <a:solidFill>
                  <a:srgbClr val="D5E4EE"/>
                </a:solidFill>
                <a:latin typeface="Arial"/>
                <a:cs typeface="Arial"/>
              </a:rPr>
              <a:t> Pd.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429000" y="0"/>
            <a:ext cx="5715000" cy="5143500"/>
          </a:xfrm>
          <a:custGeom>
            <a:avLst/>
            <a:gdLst/>
            <a:ahLst/>
            <a:cxnLst/>
            <a:rect l="l" t="t" r="r" b="b"/>
            <a:pathLst>
              <a:path w="5715000" h="5143500">
                <a:moveTo>
                  <a:pt x="0" y="5143500"/>
                </a:moveTo>
                <a:lnTo>
                  <a:pt x="5715000" y="5143500"/>
                </a:lnTo>
                <a:lnTo>
                  <a:pt x="5715000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solidFill>
            <a:srgbClr val="1F273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3894163" y="375716"/>
            <a:ext cx="903605" cy="244475"/>
          </a:xfrm>
          <a:custGeom>
            <a:avLst/>
            <a:gdLst/>
            <a:ahLst/>
            <a:cxnLst/>
            <a:rect l="l" t="t" r="r" b="b"/>
            <a:pathLst>
              <a:path w="903604" h="244475">
                <a:moveTo>
                  <a:pt x="895889" y="0"/>
                </a:moveTo>
                <a:lnTo>
                  <a:pt x="7198" y="0"/>
                </a:lnTo>
                <a:lnTo>
                  <a:pt x="0" y="7200"/>
                </a:lnTo>
                <a:lnTo>
                  <a:pt x="0" y="15951"/>
                </a:lnTo>
                <a:lnTo>
                  <a:pt x="0" y="237172"/>
                </a:lnTo>
                <a:lnTo>
                  <a:pt x="7198" y="244373"/>
                </a:lnTo>
                <a:lnTo>
                  <a:pt x="895889" y="244373"/>
                </a:lnTo>
                <a:lnTo>
                  <a:pt x="903089" y="237172"/>
                </a:lnTo>
                <a:lnTo>
                  <a:pt x="903089" y="7200"/>
                </a:lnTo>
                <a:lnTo>
                  <a:pt x="895889" y="0"/>
                </a:lnTo>
                <a:close/>
              </a:path>
            </a:pathLst>
          </a:custGeom>
          <a:solidFill>
            <a:srgbClr val="0724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3961155" y="400681"/>
            <a:ext cx="7867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D5E4EE"/>
                </a:solidFill>
                <a:latin typeface="Arial"/>
                <a:cs typeface="Arial"/>
              </a:rPr>
              <a:t>SESI</a:t>
            </a:r>
            <a:r>
              <a:rPr dirty="0" sz="800" spc="-3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D5E4EE"/>
                </a:solidFill>
                <a:latin typeface="Arial"/>
                <a:cs typeface="Arial"/>
              </a:rPr>
              <a:t>MENANYA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441700">
              <a:lnSpc>
                <a:spcPct val="100000"/>
              </a:lnSpc>
              <a:spcBef>
                <a:spcPts val="100"/>
              </a:spcBef>
            </a:pPr>
            <a:r>
              <a:rPr dirty="0"/>
              <a:t>Tantangan</a:t>
            </a:r>
            <a:r>
              <a:rPr dirty="0" spc="-55"/>
              <a:t> </a:t>
            </a:r>
            <a:r>
              <a:rPr dirty="0"/>
              <a:t>Berpikir</a:t>
            </a:r>
            <a:r>
              <a:rPr dirty="0" spc="-55"/>
              <a:t> </a:t>
            </a:r>
            <a:r>
              <a:rPr dirty="0"/>
              <a:t>Hari</a:t>
            </a:r>
            <a:r>
              <a:rPr dirty="0" spc="-55"/>
              <a:t> </a:t>
            </a:r>
            <a:r>
              <a:rPr dirty="0"/>
              <a:t>Ini!</a:t>
            </a:r>
            <a:r>
              <a:rPr dirty="0" spc="-45"/>
              <a:t> </a:t>
            </a:r>
            <a:r>
              <a:rPr dirty="0" spc="260">
                <a:solidFill>
                  <a:srgbClr val="000000"/>
                </a:solidFill>
                <a:latin typeface="Segoe UI Symbol"/>
                <a:cs typeface="Segoe UI Symbol"/>
              </a:rPr>
              <a:t>🤔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3881463" y="1642033"/>
            <a:ext cx="4401820" cy="615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9000"/>
              </a:lnSpc>
              <a:spcBef>
                <a:spcPts val="100"/>
              </a:spcBef>
            </a:pP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Ajak</a:t>
            </a:r>
            <a:r>
              <a:rPr dirty="0" sz="100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siswa</a:t>
            </a:r>
            <a:r>
              <a:rPr dirty="0" sz="10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berpikir</a:t>
            </a:r>
            <a:r>
              <a:rPr dirty="0" sz="10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kritis</a:t>
            </a:r>
            <a:r>
              <a:rPr dirty="0" sz="10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melalui</a:t>
            </a:r>
            <a:r>
              <a:rPr dirty="0" sz="100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analogi</a:t>
            </a:r>
            <a:r>
              <a:rPr dirty="0" sz="10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fisika</a:t>
            </a:r>
            <a:r>
              <a:rPr dirty="0" sz="10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sederhana</a:t>
            </a:r>
            <a:r>
              <a:rPr dirty="0" sz="10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—</a:t>
            </a:r>
            <a:r>
              <a:rPr dirty="0" sz="10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bandingkan</a:t>
            </a:r>
            <a:r>
              <a:rPr dirty="0" sz="100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D5E4EE"/>
                </a:solidFill>
                <a:latin typeface="Arial"/>
                <a:cs typeface="Arial"/>
              </a:rPr>
              <a:t>roda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sepeda</a:t>
            </a:r>
            <a:r>
              <a:rPr dirty="0" sz="100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yang</a:t>
            </a:r>
            <a:r>
              <a:rPr dirty="0" sz="1000" spc="-1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bulat</a:t>
            </a:r>
            <a:r>
              <a:rPr dirty="0" sz="100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dengan</a:t>
            </a:r>
            <a:r>
              <a:rPr dirty="0" sz="1000" spc="-1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sebuah</a:t>
            </a:r>
            <a:r>
              <a:rPr dirty="0" sz="100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kotak</a:t>
            </a:r>
            <a:r>
              <a:rPr dirty="0" sz="1000" spc="-1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kayu.</a:t>
            </a:r>
            <a:r>
              <a:rPr dirty="0" sz="100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Mengapa</a:t>
            </a:r>
            <a:r>
              <a:rPr dirty="0" sz="1000" spc="-1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bentuk</a:t>
            </a:r>
            <a:r>
              <a:rPr dirty="0" sz="1000" spc="-1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tubuh</a:t>
            </a:r>
            <a:r>
              <a:rPr dirty="0" sz="100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D5E4EE"/>
                </a:solidFill>
                <a:latin typeface="Arial"/>
                <a:cs typeface="Arial"/>
              </a:rPr>
              <a:t>sangat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menentukan</a:t>
            </a:r>
            <a:r>
              <a:rPr dirty="0" sz="1000" spc="-5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keberhasilan</a:t>
            </a:r>
            <a:r>
              <a:rPr dirty="0" sz="1000" spc="-5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D5E4EE"/>
                </a:solidFill>
                <a:latin typeface="Arial"/>
                <a:cs typeface="Arial"/>
              </a:rPr>
              <a:t>gulingan?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79875" y="2459685"/>
            <a:ext cx="4798961" cy="988745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3879875" y="2459685"/>
            <a:ext cx="4799330" cy="989330"/>
          </a:xfrm>
          <a:prstGeom prst="rect">
            <a:avLst/>
          </a:prstGeom>
        </p:spPr>
        <p:txBody>
          <a:bodyPr wrap="square" lIns="0" tIns="143510" rIns="0" bIns="0" rtlCol="0" vert="horz">
            <a:spAutoFit/>
          </a:bodyPr>
          <a:lstStyle/>
          <a:p>
            <a:pPr marL="203835">
              <a:lnSpc>
                <a:spcPct val="100000"/>
              </a:lnSpc>
              <a:spcBef>
                <a:spcPts val="1130"/>
              </a:spcBef>
            </a:pPr>
            <a:r>
              <a:rPr dirty="0" sz="1300" spc="-10">
                <a:solidFill>
                  <a:srgbClr val="D5E4EE"/>
                </a:solidFill>
                <a:latin typeface="Arial"/>
                <a:cs typeface="Arial"/>
              </a:rPr>
              <a:t>Pertanyaan</a:t>
            </a:r>
            <a:r>
              <a:rPr dirty="0" sz="1300" spc="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300" spc="-50">
                <a:solidFill>
                  <a:srgbClr val="D5E4EE"/>
                </a:solidFill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  <a:p>
            <a:pPr marL="203835" marR="613410">
              <a:lnSpc>
                <a:spcPct val="129000"/>
              </a:lnSpc>
              <a:spcBef>
                <a:spcPts val="320"/>
              </a:spcBef>
            </a:pP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Mengapa</a:t>
            </a:r>
            <a:r>
              <a:rPr dirty="0" sz="10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roda</a:t>
            </a:r>
            <a:r>
              <a:rPr dirty="0" sz="10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yang</a:t>
            </a:r>
            <a:r>
              <a:rPr dirty="0" sz="10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bundar</a:t>
            </a:r>
            <a:r>
              <a:rPr dirty="0" sz="10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bisa</a:t>
            </a:r>
            <a:r>
              <a:rPr dirty="0" sz="100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menggelinding</a:t>
            </a:r>
            <a:r>
              <a:rPr dirty="0" sz="10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dengan</a:t>
            </a:r>
            <a:r>
              <a:rPr dirty="0" sz="10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sangat</a:t>
            </a:r>
            <a:r>
              <a:rPr dirty="0" sz="10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D5E4EE"/>
                </a:solidFill>
                <a:latin typeface="Arial"/>
                <a:cs typeface="Arial"/>
              </a:rPr>
              <a:t>mulus,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sedangkan</a:t>
            </a:r>
            <a:r>
              <a:rPr dirty="0" sz="1000" spc="-1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benda</a:t>
            </a:r>
            <a:r>
              <a:rPr dirty="0" sz="1000" spc="-1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berbentuk</a:t>
            </a:r>
            <a:r>
              <a:rPr dirty="0" sz="1000" spc="-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kotak</a:t>
            </a:r>
            <a:r>
              <a:rPr dirty="0" sz="1000" spc="-10">
                <a:solidFill>
                  <a:srgbClr val="D5E4EE"/>
                </a:solidFill>
                <a:latin typeface="Arial"/>
                <a:cs typeface="Arial"/>
              </a:rPr>
              <a:t> tidak?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79875" y="3572992"/>
            <a:ext cx="4798961" cy="119471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3879875" y="3572992"/>
            <a:ext cx="4799330" cy="1195070"/>
          </a:xfrm>
          <a:prstGeom prst="rect">
            <a:avLst/>
          </a:prstGeom>
        </p:spPr>
        <p:txBody>
          <a:bodyPr wrap="square" lIns="0" tIns="143510" rIns="0" bIns="0" rtlCol="0" vert="horz">
            <a:spAutoFit/>
          </a:bodyPr>
          <a:lstStyle/>
          <a:p>
            <a:pPr marL="203835">
              <a:lnSpc>
                <a:spcPct val="100000"/>
              </a:lnSpc>
              <a:spcBef>
                <a:spcPts val="1130"/>
              </a:spcBef>
            </a:pPr>
            <a:r>
              <a:rPr dirty="0" sz="1300" spc="-10">
                <a:solidFill>
                  <a:srgbClr val="D5E4EE"/>
                </a:solidFill>
                <a:latin typeface="Arial"/>
                <a:cs typeface="Arial"/>
              </a:rPr>
              <a:t>Pertanyaan</a:t>
            </a:r>
            <a:r>
              <a:rPr dirty="0" sz="1300" spc="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300" spc="-50">
                <a:solidFill>
                  <a:srgbClr val="D5E4EE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  <a:p>
            <a:pPr marL="203835" marR="274320">
              <a:lnSpc>
                <a:spcPct val="129000"/>
              </a:lnSpc>
              <a:spcBef>
                <a:spcPts val="320"/>
              </a:spcBef>
            </a:pP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Bagaimana</a:t>
            </a:r>
            <a:r>
              <a:rPr dirty="0" sz="10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cara</a:t>
            </a:r>
            <a:r>
              <a:rPr dirty="0" sz="10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melipat</a:t>
            </a:r>
            <a:r>
              <a:rPr dirty="0" sz="100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dan</a:t>
            </a:r>
            <a:r>
              <a:rPr dirty="0" sz="10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mengubah</a:t>
            </a:r>
            <a:r>
              <a:rPr dirty="0" sz="100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posisi</a:t>
            </a:r>
            <a:r>
              <a:rPr dirty="0" sz="10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bentuk</a:t>
            </a:r>
            <a:r>
              <a:rPr dirty="0" sz="10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tubuh</a:t>
            </a:r>
            <a:r>
              <a:rPr dirty="0" sz="100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kita</a:t>
            </a:r>
            <a:r>
              <a:rPr dirty="0" sz="10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sendiri</a:t>
            </a:r>
            <a:r>
              <a:rPr dirty="0" sz="100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D5E4EE"/>
                </a:solidFill>
                <a:latin typeface="Arial"/>
                <a:cs typeface="Arial"/>
              </a:rPr>
              <a:t>agar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bisa</a:t>
            </a:r>
            <a:r>
              <a:rPr dirty="0" sz="100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menggelinding</a:t>
            </a:r>
            <a:r>
              <a:rPr dirty="0" sz="1000" spc="-1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mulus</a:t>
            </a:r>
            <a:r>
              <a:rPr dirty="0" sz="100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lurus</a:t>
            </a:r>
            <a:r>
              <a:rPr dirty="0" sz="1000" spc="-1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seperti</a:t>
            </a:r>
            <a:r>
              <a:rPr dirty="0" sz="100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roda</a:t>
            </a:r>
            <a:r>
              <a:rPr dirty="0" sz="1000" spc="-1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di</a:t>
            </a:r>
            <a:r>
              <a:rPr dirty="0" sz="1000" spc="-1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atas</a:t>
            </a:r>
            <a:r>
              <a:rPr dirty="0" sz="100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matras</a:t>
            </a:r>
            <a:r>
              <a:rPr dirty="0" sz="1000" spc="-1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tanpa</a:t>
            </a:r>
            <a:r>
              <a:rPr dirty="0" sz="100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D5E4EE"/>
                </a:solidFill>
                <a:latin typeface="Arial"/>
                <a:cs typeface="Arial"/>
              </a:rPr>
              <a:t>miring?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65161" y="371029"/>
            <a:ext cx="1351915" cy="244475"/>
          </a:xfrm>
          <a:custGeom>
            <a:avLst/>
            <a:gdLst/>
            <a:ahLst/>
            <a:cxnLst/>
            <a:rect l="l" t="t" r="r" b="b"/>
            <a:pathLst>
              <a:path w="1351914" h="244475">
                <a:moveTo>
                  <a:pt x="1344155" y="0"/>
                </a:moveTo>
                <a:lnTo>
                  <a:pt x="7198" y="0"/>
                </a:lnTo>
                <a:lnTo>
                  <a:pt x="0" y="7200"/>
                </a:lnTo>
                <a:lnTo>
                  <a:pt x="0" y="15951"/>
                </a:lnTo>
                <a:lnTo>
                  <a:pt x="0" y="237172"/>
                </a:lnTo>
                <a:lnTo>
                  <a:pt x="7198" y="244373"/>
                </a:lnTo>
                <a:lnTo>
                  <a:pt x="1344155" y="244373"/>
                </a:lnTo>
                <a:lnTo>
                  <a:pt x="1351356" y="237172"/>
                </a:lnTo>
                <a:lnTo>
                  <a:pt x="1351356" y="7200"/>
                </a:lnTo>
                <a:lnTo>
                  <a:pt x="1344155" y="0"/>
                </a:lnTo>
                <a:close/>
              </a:path>
            </a:pathLst>
          </a:custGeom>
          <a:solidFill>
            <a:srgbClr val="0724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32159" y="395993"/>
            <a:ext cx="123888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D5E4EE"/>
                </a:solidFill>
                <a:latin typeface="Arial"/>
                <a:cs typeface="Arial"/>
              </a:rPr>
              <a:t>MEANINGFUL</a:t>
            </a:r>
            <a:r>
              <a:rPr dirty="0" sz="80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D5E4EE"/>
                </a:solidFill>
                <a:latin typeface="Arial"/>
                <a:cs typeface="Arial"/>
              </a:rPr>
              <a:t>LEARNING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Kuncinya</a:t>
            </a:r>
            <a:r>
              <a:rPr dirty="0" spc="-105"/>
              <a:t> </a:t>
            </a:r>
            <a:r>
              <a:rPr dirty="0"/>
              <a:t>adalah</a:t>
            </a:r>
            <a:r>
              <a:rPr dirty="0" spc="-105"/>
              <a:t> </a:t>
            </a:r>
            <a:r>
              <a:rPr dirty="0" spc="-10"/>
              <a:t>Membulatkan</a:t>
            </a:r>
            <a:r>
              <a:rPr dirty="0" spc="-100"/>
              <a:t> </a:t>
            </a:r>
            <a:r>
              <a:rPr dirty="0"/>
              <a:t>Tubuh!</a:t>
            </a:r>
            <a:r>
              <a:rPr dirty="0" spc="-85"/>
              <a:t> </a:t>
            </a:r>
            <a:r>
              <a:rPr dirty="0" spc="80">
                <a:solidFill>
                  <a:srgbClr val="000000"/>
                </a:solidFill>
                <a:latin typeface="Segoe UI Symbol"/>
                <a:cs typeface="Segoe UI Symbol"/>
              </a:rPr>
              <a:t>⚙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161" y="1546478"/>
            <a:ext cx="5225427" cy="2961005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6006804" y="1390015"/>
            <a:ext cx="2650490" cy="1504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76B8FF"/>
                </a:solidFill>
                <a:latin typeface="Arial"/>
                <a:cs typeface="Arial"/>
              </a:rPr>
              <a:t>Asas</a:t>
            </a:r>
            <a:r>
              <a:rPr dirty="0" sz="1300" spc="-25">
                <a:solidFill>
                  <a:srgbClr val="76B8FF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76B8FF"/>
                </a:solidFill>
                <a:latin typeface="Arial"/>
                <a:cs typeface="Arial"/>
              </a:rPr>
              <a:t>Mekanika</a:t>
            </a:r>
            <a:r>
              <a:rPr dirty="0" sz="1300" spc="-20">
                <a:solidFill>
                  <a:srgbClr val="76B8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76B8FF"/>
                </a:solidFill>
                <a:latin typeface="Arial"/>
                <a:cs typeface="Arial"/>
              </a:rPr>
              <a:t>Gerak</a:t>
            </a:r>
            <a:r>
              <a:rPr dirty="0" sz="1300" spc="-25">
                <a:solidFill>
                  <a:srgbClr val="76B8FF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76B8FF"/>
                </a:solidFill>
                <a:latin typeface="Arial"/>
                <a:cs typeface="Arial"/>
              </a:rPr>
              <a:t>Melingkar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29000"/>
              </a:lnSpc>
              <a:spcBef>
                <a:spcPts val="715"/>
              </a:spcBef>
            </a:pP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Semakin</a:t>
            </a:r>
            <a:r>
              <a:rPr dirty="0" sz="100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D5E4EE"/>
                </a:solidFill>
                <a:latin typeface="Arial"/>
                <a:cs typeface="Arial"/>
              </a:rPr>
              <a:t>bulat</a:t>
            </a:r>
            <a:r>
              <a:rPr dirty="0" sz="1000" spc="-30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D5E4EE"/>
                </a:solidFill>
                <a:latin typeface="Arial"/>
                <a:cs typeface="Arial"/>
              </a:rPr>
              <a:t>posisi</a:t>
            </a:r>
            <a:r>
              <a:rPr dirty="0" sz="1000" spc="-25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D5E4EE"/>
                </a:solidFill>
                <a:latin typeface="Arial"/>
                <a:cs typeface="Arial"/>
              </a:rPr>
              <a:t>tubuh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,</a:t>
            </a:r>
            <a:r>
              <a:rPr dirty="0" sz="100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semakin</a:t>
            </a:r>
            <a:r>
              <a:rPr dirty="0" sz="100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D5E4EE"/>
                </a:solidFill>
                <a:latin typeface="Arial"/>
                <a:cs typeface="Arial"/>
              </a:rPr>
              <a:t>mudah,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ringan,</a:t>
            </a:r>
            <a:r>
              <a:rPr dirty="0" sz="10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dan</a:t>
            </a:r>
            <a:r>
              <a:rPr dirty="0" sz="100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cepat</a:t>
            </a:r>
            <a:r>
              <a:rPr dirty="0" sz="100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momentum</a:t>
            </a:r>
            <a:r>
              <a:rPr dirty="0" sz="100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gulungan</a:t>
            </a:r>
            <a:r>
              <a:rPr dirty="0" sz="100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D5E4EE"/>
                </a:solidFill>
                <a:latin typeface="Arial"/>
                <a:cs typeface="Arial"/>
              </a:rPr>
              <a:t>yang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dihasilkan.</a:t>
            </a:r>
            <a:r>
              <a:rPr dirty="0" sz="1000" spc="-4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Prinsip</a:t>
            </a:r>
            <a:r>
              <a:rPr dirty="0" sz="1000" spc="-3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fisika</a:t>
            </a:r>
            <a:r>
              <a:rPr dirty="0" sz="1000" spc="-4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sederhana:</a:t>
            </a:r>
            <a:r>
              <a:rPr dirty="0" sz="1000" spc="-3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D5E4EE"/>
                </a:solidFill>
                <a:latin typeface="Arial"/>
                <a:cs typeface="Arial"/>
              </a:rPr>
              <a:t>bentuk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bulat</a:t>
            </a:r>
            <a:r>
              <a:rPr dirty="0" sz="1000" spc="-3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=</a:t>
            </a:r>
            <a:r>
              <a:rPr dirty="0" sz="100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gesekan</a:t>
            </a:r>
            <a:r>
              <a:rPr dirty="0" sz="1000" spc="-3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minimal</a:t>
            </a:r>
            <a:r>
              <a:rPr dirty="0" sz="100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=</a:t>
            </a:r>
            <a:r>
              <a:rPr dirty="0" sz="100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gulingan</a:t>
            </a:r>
            <a:r>
              <a:rPr dirty="0" sz="1000" spc="-3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D5E4EE"/>
                </a:solidFill>
                <a:latin typeface="Arial"/>
                <a:cs typeface="Arial"/>
              </a:rPr>
              <a:t>mulus.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00">
                <a:solidFill>
                  <a:srgbClr val="76B8FF"/>
                </a:solidFill>
                <a:latin typeface="Arial"/>
                <a:cs typeface="Arial"/>
              </a:rPr>
              <a:t>Modal</a:t>
            </a:r>
            <a:r>
              <a:rPr dirty="0" sz="1300" spc="-50">
                <a:solidFill>
                  <a:srgbClr val="76B8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76B8FF"/>
                </a:solidFill>
                <a:latin typeface="Arial"/>
                <a:cs typeface="Arial"/>
              </a:rPr>
              <a:t>Utama</a:t>
            </a:r>
            <a:r>
              <a:rPr dirty="0" sz="1300" spc="-50">
                <a:solidFill>
                  <a:srgbClr val="76B8FF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76B8FF"/>
                </a:solidFill>
                <a:latin typeface="Arial"/>
                <a:cs typeface="Arial"/>
              </a:rPr>
              <a:t>Tubuh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006812" y="3593591"/>
            <a:ext cx="704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D5E4EE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006807" y="2959608"/>
            <a:ext cx="2493010" cy="81216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45"/>
              </a:spcBef>
              <a:buChar char="•"/>
              <a:tabLst>
                <a:tab pos="354965" algn="l"/>
              </a:tabLst>
            </a:pP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Kelentukan</a:t>
            </a:r>
            <a:r>
              <a:rPr dirty="0" sz="100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otot</a:t>
            </a:r>
            <a:r>
              <a:rPr dirty="0" sz="1000" spc="-1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D5E4EE"/>
                </a:solidFill>
                <a:latin typeface="Arial"/>
                <a:cs typeface="Arial"/>
              </a:rPr>
              <a:t>punggung</a:t>
            </a:r>
            <a:r>
              <a:rPr dirty="0" sz="1000" spc="-5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dan</a:t>
            </a:r>
            <a:r>
              <a:rPr dirty="0" sz="1000" spc="-1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D5E4EE"/>
                </a:solidFill>
                <a:latin typeface="Arial"/>
                <a:cs typeface="Arial"/>
              </a:rPr>
              <a:t>leher</a:t>
            </a:r>
            <a:endParaRPr sz="1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350"/>
              </a:spcBef>
              <a:buChar char="•"/>
              <a:tabLst>
                <a:tab pos="354965" algn="l"/>
              </a:tabLst>
            </a:pP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Kelentukan</a:t>
            </a:r>
            <a:r>
              <a:rPr dirty="0" sz="10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otot</a:t>
            </a:r>
            <a:r>
              <a:rPr dirty="0" sz="10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D5E4EE"/>
                </a:solidFill>
                <a:latin typeface="Arial"/>
                <a:cs typeface="Arial"/>
              </a:rPr>
              <a:t>paha</a:t>
            </a:r>
            <a:r>
              <a:rPr dirty="0" sz="1000" spc="-20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D5E4EE"/>
                </a:solidFill>
                <a:latin typeface="Arial"/>
                <a:cs typeface="Arial"/>
              </a:rPr>
              <a:t>belakang</a:t>
            </a:r>
            <a:endParaRPr sz="1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345"/>
              </a:spcBef>
            </a:pPr>
            <a:r>
              <a:rPr dirty="0" sz="1000" spc="-10">
                <a:solidFill>
                  <a:srgbClr val="D5E4EE"/>
                </a:solidFill>
                <a:latin typeface="Arial"/>
                <a:cs typeface="Arial"/>
              </a:rPr>
              <a:t>(hamstring)</a:t>
            </a:r>
            <a:endParaRPr sz="1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350"/>
              </a:spcBef>
            </a:pP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Kekuatan</a:t>
            </a:r>
            <a:r>
              <a:rPr dirty="0" sz="100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D5E4EE"/>
                </a:solidFill>
                <a:latin typeface="Arial"/>
                <a:cs typeface="Arial"/>
              </a:rPr>
              <a:t>core</a:t>
            </a:r>
            <a:r>
              <a:rPr dirty="0" sz="1000" spc="-25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D5E4EE"/>
                </a:solidFill>
                <a:latin typeface="Arial"/>
                <a:cs typeface="Arial"/>
              </a:rPr>
              <a:t>muscles</a:t>
            </a:r>
            <a:r>
              <a:rPr dirty="0" sz="1000" spc="-25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(otot</a:t>
            </a:r>
            <a:r>
              <a:rPr dirty="0" sz="100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D5E4EE"/>
                </a:solidFill>
                <a:latin typeface="Arial"/>
                <a:cs typeface="Arial"/>
              </a:rPr>
              <a:t>inti)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006807" y="3982808"/>
            <a:ext cx="2651125" cy="615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9000"/>
              </a:lnSpc>
              <a:spcBef>
                <a:spcPts val="100"/>
              </a:spcBef>
            </a:pP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Latihan</a:t>
            </a:r>
            <a:r>
              <a:rPr dirty="0" sz="10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rutin</a:t>
            </a:r>
            <a:r>
              <a:rPr dirty="0" sz="10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akan</a:t>
            </a:r>
            <a:r>
              <a:rPr dirty="0" sz="10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membentuk</a:t>
            </a:r>
            <a:r>
              <a:rPr dirty="0" sz="10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"memori</a:t>
            </a:r>
            <a:r>
              <a:rPr dirty="0" sz="100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D5E4EE"/>
                </a:solidFill>
                <a:latin typeface="Arial"/>
                <a:cs typeface="Arial"/>
              </a:rPr>
              <a:t>otot"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yang</a:t>
            </a:r>
            <a:r>
              <a:rPr dirty="0" sz="1000" spc="-3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membuat</a:t>
            </a:r>
            <a:r>
              <a:rPr dirty="0" sz="10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gulingan</a:t>
            </a:r>
            <a:r>
              <a:rPr dirty="0" sz="100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semakin</a:t>
            </a:r>
            <a:r>
              <a:rPr dirty="0" sz="10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5E4EE"/>
                </a:solidFill>
                <a:latin typeface="Arial"/>
                <a:cs typeface="Arial"/>
              </a:rPr>
              <a:t>otomatis</a:t>
            </a:r>
            <a:r>
              <a:rPr dirty="0" sz="10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D5E4EE"/>
                </a:solidFill>
                <a:latin typeface="Arial"/>
                <a:cs typeface="Arial"/>
              </a:rPr>
              <a:t>dan </a:t>
            </a:r>
            <a:r>
              <a:rPr dirty="0" sz="1000" spc="-10">
                <a:solidFill>
                  <a:srgbClr val="D5E4EE"/>
                </a:solidFill>
                <a:latin typeface="Arial"/>
                <a:cs typeface="Arial"/>
              </a:rPr>
              <a:t>aman.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27336" y="322658"/>
            <a:ext cx="934085" cy="187960"/>
          </a:xfrm>
          <a:custGeom>
            <a:avLst/>
            <a:gdLst/>
            <a:ahLst/>
            <a:cxnLst/>
            <a:rect l="l" t="t" r="r" b="b"/>
            <a:pathLst>
              <a:path w="934085" h="187959">
                <a:moveTo>
                  <a:pt x="927644" y="0"/>
                </a:moveTo>
                <a:lnTo>
                  <a:pt x="5879" y="0"/>
                </a:lnTo>
                <a:lnTo>
                  <a:pt x="0" y="5880"/>
                </a:lnTo>
                <a:lnTo>
                  <a:pt x="0" y="13017"/>
                </a:lnTo>
                <a:lnTo>
                  <a:pt x="0" y="181787"/>
                </a:lnTo>
                <a:lnTo>
                  <a:pt x="5879" y="187667"/>
                </a:lnTo>
                <a:lnTo>
                  <a:pt x="927644" y="187667"/>
                </a:lnTo>
                <a:lnTo>
                  <a:pt x="933523" y="181787"/>
                </a:lnTo>
                <a:lnTo>
                  <a:pt x="933523" y="5880"/>
                </a:lnTo>
                <a:lnTo>
                  <a:pt x="927644" y="0"/>
                </a:lnTo>
                <a:close/>
              </a:path>
            </a:pathLst>
          </a:custGeom>
          <a:solidFill>
            <a:srgbClr val="0724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79748" y="340738"/>
            <a:ext cx="836930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10">
                <a:solidFill>
                  <a:srgbClr val="D5E4EE"/>
                </a:solidFill>
                <a:latin typeface="Arial"/>
                <a:cs typeface="Arial"/>
              </a:rPr>
              <a:t>MINDFUL</a:t>
            </a:r>
            <a:r>
              <a:rPr dirty="0" sz="650" spc="1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650" spc="-10">
                <a:solidFill>
                  <a:srgbClr val="D5E4EE"/>
                </a:solidFill>
                <a:latin typeface="Arial"/>
                <a:cs typeface="Arial"/>
              </a:rPr>
              <a:t>LEARNING</a:t>
            </a:r>
            <a:endParaRPr sz="6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14636" y="525180"/>
            <a:ext cx="456057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/>
              <a:t>ZONA</a:t>
            </a:r>
            <a:r>
              <a:rPr dirty="0" sz="2100" spc="-25"/>
              <a:t> </a:t>
            </a:r>
            <a:r>
              <a:rPr dirty="0" sz="2100"/>
              <a:t>AMAN:</a:t>
            </a:r>
            <a:r>
              <a:rPr dirty="0" sz="2100" spc="-25"/>
              <a:t> </a:t>
            </a:r>
            <a:r>
              <a:rPr dirty="0" sz="2100"/>
              <a:t>Jauhi</a:t>
            </a:r>
            <a:r>
              <a:rPr dirty="0" sz="2100" spc="-25"/>
              <a:t> </a:t>
            </a:r>
            <a:r>
              <a:rPr dirty="0" sz="2100"/>
              <a:t>Risiko</a:t>
            </a:r>
            <a:r>
              <a:rPr dirty="0" sz="2100" spc="-20"/>
              <a:t> </a:t>
            </a:r>
            <a:r>
              <a:rPr dirty="0" sz="2100"/>
              <a:t>Cedera!</a:t>
            </a:r>
            <a:r>
              <a:rPr dirty="0" sz="2100" spc="-10"/>
              <a:t> </a:t>
            </a:r>
            <a:r>
              <a:rPr dirty="0" sz="2100" spc="-50">
                <a:solidFill>
                  <a:srgbClr val="000000"/>
                </a:solidFill>
                <a:latin typeface="Segoe UI Symbol"/>
                <a:cs typeface="Segoe UI Symbol"/>
              </a:rPr>
              <a:t>🛡</a:t>
            </a:r>
            <a:endParaRPr sz="2100">
              <a:latin typeface="Segoe UI Symbol"/>
              <a:cs typeface="Segoe UI Symbo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827336" y="2639237"/>
            <a:ext cx="3612515" cy="8255"/>
          </a:xfrm>
          <a:custGeom>
            <a:avLst/>
            <a:gdLst/>
            <a:ahLst/>
            <a:cxnLst/>
            <a:rect l="l" t="t" r="r" b="b"/>
            <a:pathLst>
              <a:path w="3612515" h="8255">
                <a:moveTo>
                  <a:pt x="3612210" y="0"/>
                </a:moveTo>
                <a:lnTo>
                  <a:pt x="0" y="0"/>
                </a:lnTo>
                <a:lnTo>
                  <a:pt x="0" y="8115"/>
                </a:lnTo>
                <a:lnTo>
                  <a:pt x="3612210" y="8115"/>
                </a:lnTo>
                <a:lnTo>
                  <a:pt x="3612210" y="0"/>
                </a:lnTo>
                <a:close/>
              </a:path>
            </a:pathLst>
          </a:custGeom>
          <a:solidFill>
            <a:srgbClr val="D5E4EE">
              <a:alpha val="4980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27336" y="3423119"/>
            <a:ext cx="3612515" cy="8255"/>
          </a:xfrm>
          <a:custGeom>
            <a:avLst/>
            <a:gdLst/>
            <a:ahLst/>
            <a:cxnLst/>
            <a:rect l="l" t="t" r="r" b="b"/>
            <a:pathLst>
              <a:path w="3612515" h="8254">
                <a:moveTo>
                  <a:pt x="3612210" y="0"/>
                </a:moveTo>
                <a:lnTo>
                  <a:pt x="0" y="0"/>
                </a:lnTo>
                <a:lnTo>
                  <a:pt x="0" y="8115"/>
                </a:lnTo>
                <a:lnTo>
                  <a:pt x="3612210" y="8115"/>
                </a:lnTo>
                <a:lnTo>
                  <a:pt x="3612210" y="0"/>
                </a:lnTo>
                <a:close/>
              </a:path>
            </a:pathLst>
          </a:custGeom>
          <a:solidFill>
            <a:srgbClr val="D5E4EE">
              <a:alpha val="4980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814632" y="1969046"/>
            <a:ext cx="3575685" cy="1880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latin typeface="Segoe UI Symbol"/>
                <a:cs typeface="Segoe UI Symbol"/>
              </a:rPr>
              <a:t>⚠</a:t>
            </a:r>
            <a:r>
              <a:rPr dirty="0" sz="850" spc="-15">
                <a:latin typeface="Segoe UI Symbol"/>
                <a:cs typeface="Segoe UI Symbol"/>
              </a:rPr>
              <a:t> </a:t>
            </a:r>
            <a:r>
              <a:rPr dirty="0" sz="850" b="1">
                <a:solidFill>
                  <a:srgbClr val="D5E4EE"/>
                </a:solidFill>
                <a:latin typeface="Arial"/>
                <a:cs typeface="Arial"/>
              </a:rPr>
              <a:t>AREA</a:t>
            </a:r>
            <a:r>
              <a:rPr dirty="0" sz="850" spc="-10" b="1">
                <a:solidFill>
                  <a:srgbClr val="D5E4EE"/>
                </a:solidFill>
                <a:latin typeface="Arial"/>
                <a:cs typeface="Arial"/>
              </a:rPr>
              <a:t> TERLARANG </a:t>
            </a:r>
            <a:r>
              <a:rPr dirty="0" sz="850" b="1">
                <a:solidFill>
                  <a:srgbClr val="D5E4EE"/>
                </a:solidFill>
                <a:latin typeface="Arial"/>
                <a:cs typeface="Arial"/>
              </a:rPr>
              <a:t>—</a:t>
            </a:r>
            <a:r>
              <a:rPr dirty="0" sz="850" spc="-10" b="1">
                <a:solidFill>
                  <a:srgbClr val="D5E4EE"/>
                </a:solidFill>
                <a:latin typeface="Arial"/>
                <a:cs typeface="Arial"/>
              </a:rPr>
              <a:t> Tumpuan</a:t>
            </a:r>
            <a:r>
              <a:rPr dirty="0" sz="850" spc="-15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D5E4EE"/>
                </a:solidFill>
                <a:latin typeface="Arial"/>
                <a:cs typeface="Arial"/>
              </a:rPr>
              <a:t>Ubun-</a:t>
            </a:r>
            <a:r>
              <a:rPr dirty="0" sz="850" b="1">
                <a:solidFill>
                  <a:srgbClr val="D5E4EE"/>
                </a:solidFill>
                <a:latin typeface="Arial"/>
                <a:cs typeface="Arial"/>
              </a:rPr>
              <a:t>ubun</a:t>
            </a:r>
            <a:r>
              <a:rPr dirty="0" sz="850" spc="-10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D5E4EE"/>
                </a:solidFill>
                <a:latin typeface="Arial"/>
                <a:cs typeface="Arial"/>
              </a:rPr>
              <a:t>/</a:t>
            </a:r>
            <a:r>
              <a:rPr dirty="0" sz="850" spc="-10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D5E4EE"/>
                </a:solidFill>
                <a:latin typeface="Arial"/>
                <a:cs typeface="Arial"/>
              </a:rPr>
              <a:t>Puncak</a:t>
            </a:r>
            <a:r>
              <a:rPr dirty="0" sz="850" spc="-10" b="1">
                <a:solidFill>
                  <a:srgbClr val="D5E4EE"/>
                </a:solidFill>
                <a:latin typeface="Arial"/>
                <a:cs typeface="Arial"/>
              </a:rPr>
              <a:t> Kepala</a:t>
            </a:r>
            <a:endParaRPr sz="850">
              <a:latin typeface="Arial"/>
              <a:cs typeface="Arial"/>
            </a:endParaRPr>
          </a:p>
          <a:p>
            <a:pPr marL="12700" marR="213360">
              <a:lnSpc>
                <a:spcPct val="118000"/>
              </a:lnSpc>
              <a:spcBef>
                <a:spcPts val="570"/>
              </a:spcBef>
            </a:pP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Jangan</a:t>
            </a:r>
            <a:r>
              <a:rPr dirty="0" sz="85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pernah</a:t>
            </a:r>
            <a:r>
              <a:rPr dirty="0" sz="85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D5E4EE"/>
                </a:solidFill>
                <a:latin typeface="Arial"/>
                <a:cs typeface="Arial"/>
              </a:rPr>
              <a:t>menjadikan</a:t>
            </a:r>
            <a:r>
              <a:rPr dirty="0" sz="85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D5E4EE"/>
                </a:solidFill>
                <a:latin typeface="Arial"/>
                <a:cs typeface="Arial"/>
              </a:rPr>
              <a:t>ubun-</a:t>
            </a: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ubun</a:t>
            </a:r>
            <a:r>
              <a:rPr dirty="0" sz="85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D5E4EE"/>
                </a:solidFill>
                <a:latin typeface="Arial"/>
                <a:cs typeface="Arial"/>
              </a:rPr>
              <a:t>sebagai</a:t>
            </a:r>
            <a:r>
              <a:rPr dirty="0" sz="85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D5E4EE"/>
                </a:solidFill>
                <a:latin typeface="Arial"/>
                <a:cs typeface="Arial"/>
              </a:rPr>
              <a:t>tumpuan</a:t>
            </a:r>
            <a:r>
              <a:rPr dirty="0" sz="85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berat</a:t>
            </a:r>
            <a:r>
              <a:rPr dirty="0" sz="85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D5E4EE"/>
                </a:solidFill>
                <a:latin typeface="Arial"/>
                <a:cs typeface="Arial"/>
              </a:rPr>
              <a:t>badan. Tekanan</a:t>
            </a:r>
            <a:r>
              <a:rPr dirty="0" sz="85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pada</a:t>
            </a:r>
            <a:r>
              <a:rPr dirty="0" sz="85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tulang</a:t>
            </a:r>
            <a:r>
              <a:rPr dirty="0" sz="85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leher</a:t>
            </a:r>
            <a:r>
              <a:rPr dirty="0" sz="85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atas</a:t>
            </a:r>
            <a:r>
              <a:rPr dirty="0" sz="85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D5E4EE"/>
                </a:solidFill>
                <a:latin typeface="Arial"/>
                <a:cs typeface="Arial"/>
              </a:rPr>
              <a:t>berisiko</a:t>
            </a:r>
            <a:r>
              <a:rPr dirty="0" sz="85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D5E4EE"/>
                </a:solidFill>
                <a:latin typeface="Arial"/>
                <a:cs typeface="Arial"/>
              </a:rPr>
              <a:t>cedera</a:t>
            </a:r>
            <a:r>
              <a:rPr dirty="0" sz="850" spc="-25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D5E4EE"/>
                </a:solidFill>
                <a:latin typeface="Arial"/>
                <a:cs typeface="Arial"/>
              </a:rPr>
              <a:t>fatal</a:t>
            </a:r>
            <a:r>
              <a:rPr dirty="0" sz="850" spc="-20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pada</a:t>
            </a:r>
            <a:r>
              <a:rPr dirty="0" sz="85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D5E4EE"/>
                </a:solidFill>
                <a:latin typeface="Arial"/>
                <a:cs typeface="Arial"/>
              </a:rPr>
              <a:t>serviks.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850" spc="240">
                <a:latin typeface="Segoe UI Symbol"/>
                <a:cs typeface="Segoe UI Symbol"/>
              </a:rPr>
              <a:t>o</a:t>
            </a:r>
            <a:r>
              <a:rPr dirty="0" sz="850" spc="-20">
                <a:latin typeface="Segoe UI Symbol"/>
                <a:cs typeface="Segoe UI Symbol"/>
              </a:rPr>
              <a:t> </a:t>
            </a:r>
            <a:r>
              <a:rPr dirty="0" sz="850" b="1">
                <a:solidFill>
                  <a:srgbClr val="D5E4EE"/>
                </a:solidFill>
                <a:latin typeface="Arial"/>
                <a:cs typeface="Arial"/>
              </a:rPr>
              <a:t>AREA</a:t>
            </a:r>
            <a:r>
              <a:rPr dirty="0" sz="850" spc="-15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D5E4EE"/>
                </a:solidFill>
                <a:latin typeface="Arial"/>
                <a:cs typeface="Arial"/>
              </a:rPr>
              <a:t>AMAN</a:t>
            </a:r>
            <a:r>
              <a:rPr dirty="0" sz="850" spc="-20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D5E4EE"/>
                </a:solidFill>
                <a:latin typeface="Arial"/>
                <a:cs typeface="Arial"/>
              </a:rPr>
              <a:t>—</a:t>
            </a:r>
            <a:r>
              <a:rPr dirty="0" sz="850" spc="-15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D5E4EE"/>
                </a:solidFill>
                <a:latin typeface="Arial"/>
                <a:cs typeface="Arial"/>
              </a:rPr>
              <a:t>Tengkuk</a:t>
            </a:r>
            <a:r>
              <a:rPr dirty="0" sz="850" spc="-15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D5E4EE"/>
                </a:solidFill>
                <a:latin typeface="Arial"/>
                <a:cs typeface="Arial"/>
              </a:rPr>
              <a:t>(Leher</a:t>
            </a:r>
            <a:r>
              <a:rPr dirty="0" sz="850" spc="-20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D5E4EE"/>
                </a:solidFill>
                <a:latin typeface="Arial"/>
                <a:cs typeface="Arial"/>
              </a:rPr>
              <a:t>Belakang)</a:t>
            </a:r>
            <a:endParaRPr sz="850">
              <a:latin typeface="Arial"/>
              <a:cs typeface="Arial"/>
            </a:endParaRPr>
          </a:p>
          <a:p>
            <a:pPr marL="12700" marR="27305">
              <a:lnSpc>
                <a:spcPct val="118000"/>
              </a:lnSpc>
              <a:spcBef>
                <a:spcPts val="650"/>
              </a:spcBef>
            </a:pP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Tengkuk</a:t>
            </a:r>
            <a:r>
              <a:rPr dirty="0" sz="850" spc="-3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adalah</a:t>
            </a:r>
            <a:r>
              <a:rPr dirty="0" sz="850" spc="-3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bagian</a:t>
            </a:r>
            <a:r>
              <a:rPr dirty="0" sz="850" spc="-3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D5E4EE"/>
                </a:solidFill>
                <a:latin typeface="Arial"/>
                <a:cs typeface="Arial"/>
              </a:rPr>
              <a:t>pertama</a:t>
            </a:r>
            <a:r>
              <a:rPr dirty="0" sz="850" spc="-3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yang</a:t>
            </a:r>
            <a:r>
              <a:rPr dirty="0" sz="850" spc="-3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D5E4EE"/>
                </a:solidFill>
                <a:latin typeface="Arial"/>
                <a:cs typeface="Arial"/>
              </a:rPr>
              <a:t>wajib</a:t>
            </a:r>
            <a:r>
              <a:rPr dirty="0" sz="850" spc="-35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D5E4EE"/>
                </a:solidFill>
                <a:latin typeface="Arial"/>
                <a:cs typeface="Arial"/>
              </a:rPr>
              <a:t>mendarat</a:t>
            </a:r>
            <a:r>
              <a:rPr dirty="0" sz="850" spc="-30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di</a:t>
            </a:r>
            <a:r>
              <a:rPr dirty="0" sz="850" spc="-3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matras.</a:t>
            </a:r>
            <a:r>
              <a:rPr dirty="0" sz="850" spc="-3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Area</a:t>
            </a:r>
            <a:r>
              <a:rPr dirty="0" sz="850" spc="-3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D5E4EE"/>
                </a:solidFill>
                <a:latin typeface="Arial"/>
                <a:cs typeface="Arial"/>
              </a:rPr>
              <a:t>ini </a:t>
            </a: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aman</a:t>
            </a:r>
            <a:r>
              <a:rPr dirty="0" sz="850" spc="-3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untuk</a:t>
            </a:r>
            <a:r>
              <a:rPr dirty="0" sz="85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D5E4EE"/>
                </a:solidFill>
                <a:latin typeface="Arial"/>
                <a:cs typeface="Arial"/>
              </a:rPr>
              <a:t>menerima</a:t>
            </a:r>
            <a:r>
              <a:rPr dirty="0" sz="85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beban</a:t>
            </a:r>
            <a:r>
              <a:rPr dirty="0" sz="85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awal</a:t>
            </a:r>
            <a:r>
              <a:rPr dirty="0" sz="85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D5E4EE"/>
                </a:solidFill>
                <a:latin typeface="Arial"/>
                <a:cs typeface="Arial"/>
              </a:rPr>
              <a:t>gulingan.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850">
              <a:latin typeface="Arial"/>
              <a:cs typeface="Arial"/>
            </a:endParaRPr>
          </a:p>
          <a:p>
            <a:pPr marL="12700" marR="5080">
              <a:lnSpc>
                <a:spcPct val="121600"/>
              </a:lnSpc>
            </a:pPr>
            <a:r>
              <a:rPr dirty="0" sz="850" spc="220">
                <a:latin typeface="Segoe UI Symbol"/>
                <a:cs typeface="Segoe UI Symbol"/>
              </a:rPr>
              <a:t>🔗</a:t>
            </a:r>
            <a:r>
              <a:rPr dirty="0" sz="850" spc="-15">
                <a:latin typeface="Segoe UI Symbol"/>
                <a:cs typeface="Segoe UI Symbol"/>
              </a:rPr>
              <a:t> </a:t>
            </a:r>
            <a:r>
              <a:rPr dirty="0" sz="850" spc="-10" b="1">
                <a:solidFill>
                  <a:srgbClr val="D5E4EE"/>
                </a:solidFill>
                <a:latin typeface="Arial"/>
                <a:cs typeface="Arial"/>
              </a:rPr>
              <a:t>Relevansi</a:t>
            </a:r>
            <a:r>
              <a:rPr dirty="0" sz="850" spc="-15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D5E4EE"/>
                </a:solidFill>
                <a:latin typeface="Arial"/>
                <a:cs typeface="Arial"/>
              </a:rPr>
              <a:t>Kehidupan</a:t>
            </a:r>
            <a:r>
              <a:rPr dirty="0" sz="850" spc="-15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D5E4EE"/>
                </a:solidFill>
                <a:latin typeface="Arial"/>
                <a:cs typeface="Arial"/>
              </a:rPr>
              <a:t>Nyata:</a:t>
            </a:r>
            <a:r>
              <a:rPr dirty="0" sz="850" spc="-5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Teknik</a:t>
            </a:r>
            <a:r>
              <a:rPr dirty="0" sz="850" spc="-1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ini</a:t>
            </a:r>
            <a:r>
              <a:rPr dirty="0" sz="85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melatih</a:t>
            </a:r>
            <a:r>
              <a:rPr dirty="0" sz="85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refleks</a:t>
            </a:r>
            <a:r>
              <a:rPr dirty="0" sz="85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D5E4EE"/>
                </a:solidFill>
                <a:latin typeface="Arial"/>
                <a:cs typeface="Arial"/>
              </a:rPr>
              <a:t>proteksi </a:t>
            </a: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diri</a:t>
            </a:r>
            <a:r>
              <a:rPr dirty="0" sz="85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 spc="-50">
                <a:solidFill>
                  <a:srgbClr val="D5E4EE"/>
                </a:solidFill>
                <a:latin typeface="Arial"/>
                <a:cs typeface="Arial"/>
              </a:rPr>
              <a:t>—</a:t>
            </a: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 cara</a:t>
            </a:r>
            <a:r>
              <a:rPr dirty="0" sz="850" spc="-3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jatuh</a:t>
            </a:r>
            <a:r>
              <a:rPr dirty="0" sz="850" spc="-3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yang</a:t>
            </a:r>
            <a:r>
              <a:rPr dirty="0" sz="850" spc="-3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aman</a:t>
            </a:r>
            <a:r>
              <a:rPr dirty="0" sz="850" spc="-3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saat</a:t>
            </a:r>
            <a:r>
              <a:rPr dirty="0" sz="850" spc="-3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tergelincir</a:t>
            </a:r>
            <a:r>
              <a:rPr dirty="0" sz="850" spc="-3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atau</a:t>
            </a:r>
            <a:r>
              <a:rPr dirty="0" sz="850" spc="-3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jatuh</a:t>
            </a:r>
            <a:r>
              <a:rPr dirty="0" sz="850" spc="-3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dari</a:t>
            </a:r>
            <a:r>
              <a:rPr dirty="0" sz="850" spc="-3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D5E4EE"/>
                </a:solidFill>
                <a:latin typeface="Arial"/>
                <a:cs typeface="Arial"/>
              </a:rPr>
              <a:t>sepeda.</a:t>
            </a:r>
            <a:endParaRPr sz="85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9071" y="1115095"/>
            <a:ext cx="3612210" cy="36122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45218" y="335831"/>
            <a:ext cx="1120775" cy="213360"/>
          </a:xfrm>
          <a:custGeom>
            <a:avLst/>
            <a:gdLst/>
            <a:ahLst/>
            <a:cxnLst/>
            <a:rect l="l" t="t" r="r" b="b"/>
            <a:pathLst>
              <a:path w="1120775" h="213359">
                <a:moveTo>
                  <a:pt x="1114046" y="0"/>
                </a:moveTo>
                <a:lnTo>
                  <a:pt x="6480" y="0"/>
                </a:lnTo>
                <a:lnTo>
                  <a:pt x="0" y="6476"/>
                </a:lnTo>
                <a:lnTo>
                  <a:pt x="0" y="14350"/>
                </a:lnTo>
                <a:lnTo>
                  <a:pt x="0" y="206349"/>
                </a:lnTo>
                <a:lnTo>
                  <a:pt x="6480" y="212826"/>
                </a:lnTo>
                <a:lnTo>
                  <a:pt x="1114046" y="212826"/>
                </a:lnTo>
                <a:lnTo>
                  <a:pt x="1120527" y="206349"/>
                </a:lnTo>
                <a:lnTo>
                  <a:pt x="1120527" y="6476"/>
                </a:lnTo>
                <a:lnTo>
                  <a:pt x="1114046" y="0"/>
                </a:lnTo>
                <a:close/>
              </a:path>
            </a:pathLst>
          </a:custGeom>
          <a:solidFill>
            <a:srgbClr val="0724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04253" y="356979"/>
            <a:ext cx="108267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D5E4EE"/>
                </a:solidFill>
                <a:latin typeface="Arial"/>
                <a:cs typeface="Arial"/>
              </a:rPr>
              <a:t>DEMONSTRASI</a:t>
            </a:r>
            <a:r>
              <a:rPr dirty="0" sz="750" spc="-5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D5E4EE"/>
                </a:solidFill>
                <a:latin typeface="Arial"/>
                <a:cs typeface="Arial"/>
              </a:rPr>
              <a:t>GERAK</a:t>
            </a:r>
            <a:endParaRPr sz="7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32518" y="569974"/>
            <a:ext cx="5681980" cy="3835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/>
              <a:t>Langkah</a:t>
            </a:r>
            <a:r>
              <a:rPr dirty="0" sz="2350" spc="-85"/>
              <a:t> </a:t>
            </a:r>
            <a:r>
              <a:rPr dirty="0" sz="2350"/>
              <a:t>Praktik</a:t>
            </a:r>
            <a:r>
              <a:rPr dirty="0" sz="2350" spc="-85"/>
              <a:t> </a:t>
            </a:r>
            <a:r>
              <a:rPr dirty="0" sz="2350"/>
              <a:t>Guling</a:t>
            </a:r>
            <a:r>
              <a:rPr dirty="0" sz="2350" spc="-85"/>
              <a:t> </a:t>
            </a:r>
            <a:r>
              <a:rPr dirty="0" sz="2350"/>
              <a:t>Depan</a:t>
            </a:r>
            <a:r>
              <a:rPr dirty="0" sz="2350" spc="-80"/>
              <a:t> </a:t>
            </a:r>
            <a:r>
              <a:rPr dirty="0" sz="2350"/>
              <a:t>yang</a:t>
            </a:r>
            <a:r>
              <a:rPr dirty="0" sz="2350" spc="-85"/>
              <a:t> </a:t>
            </a:r>
            <a:r>
              <a:rPr dirty="0" sz="2350" spc="-10"/>
              <a:t>Benar</a:t>
            </a:r>
            <a:endParaRPr sz="2350"/>
          </a:p>
        </p:txBody>
      </p:sp>
      <p:sp>
        <p:nvSpPr>
          <p:cNvPr id="5" name="object 5" descr=""/>
          <p:cNvSpPr txBox="1"/>
          <p:nvPr/>
        </p:nvSpPr>
        <p:spPr>
          <a:xfrm>
            <a:off x="432518" y="1099013"/>
            <a:ext cx="58178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D5E4EE"/>
                </a:solidFill>
                <a:latin typeface="Arial"/>
                <a:cs typeface="Arial"/>
              </a:rPr>
              <a:t>Ikuti</a:t>
            </a:r>
            <a:r>
              <a:rPr dirty="0" sz="900" spc="-3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D5E4EE"/>
                </a:solidFill>
                <a:latin typeface="Arial"/>
                <a:cs typeface="Arial"/>
              </a:rPr>
              <a:t>runtutan</a:t>
            </a:r>
            <a:r>
              <a:rPr dirty="0" sz="9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D5E4EE"/>
                </a:solidFill>
                <a:latin typeface="Arial"/>
                <a:cs typeface="Arial"/>
              </a:rPr>
              <a:t>4</a:t>
            </a:r>
            <a:r>
              <a:rPr dirty="0" sz="9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D5E4EE"/>
                </a:solidFill>
                <a:latin typeface="Arial"/>
                <a:cs typeface="Arial"/>
              </a:rPr>
              <a:t>tahapan</a:t>
            </a:r>
            <a:r>
              <a:rPr dirty="0" sz="90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D5E4EE"/>
                </a:solidFill>
                <a:latin typeface="Arial"/>
                <a:cs typeface="Arial"/>
              </a:rPr>
              <a:t>gerak</a:t>
            </a:r>
            <a:r>
              <a:rPr dirty="0" sz="9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D5E4EE"/>
                </a:solidFill>
                <a:latin typeface="Arial"/>
                <a:cs typeface="Arial"/>
              </a:rPr>
              <a:t>ini</a:t>
            </a:r>
            <a:r>
              <a:rPr dirty="0" sz="9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D5E4EE"/>
                </a:solidFill>
                <a:latin typeface="Arial"/>
                <a:cs typeface="Arial"/>
              </a:rPr>
              <a:t>secara</a:t>
            </a:r>
            <a:r>
              <a:rPr dirty="0" sz="9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D5E4EE"/>
                </a:solidFill>
                <a:latin typeface="Arial"/>
                <a:cs typeface="Arial"/>
              </a:rPr>
              <a:t>berurutan</a:t>
            </a:r>
            <a:r>
              <a:rPr dirty="0" sz="90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D5E4EE"/>
                </a:solidFill>
                <a:latin typeface="Arial"/>
                <a:cs typeface="Arial"/>
              </a:rPr>
              <a:t>untuk</a:t>
            </a:r>
            <a:r>
              <a:rPr dirty="0" sz="9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D5E4EE"/>
                </a:solidFill>
                <a:latin typeface="Arial"/>
                <a:cs typeface="Arial"/>
              </a:rPr>
              <a:t>menghasilkan</a:t>
            </a:r>
            <a:r>
              <a:rPr dirty="0" sz="9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D5E4EE"/>
                </a:solidFill>
                <a:latin typeface="Arial"/>
                <a:cs typeface="Arial"/>
              </a:rPr>
              <a:t>gulingan</a:t>
            </a:r>
            <a:r>
              <a:rPr dirty="0" sz="9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D5E4EE"/>
                </a:solidFill>
                <a:latin typeface="Arial"/>
                <a:cs typeface="Arial"/>
              </a:rPr>
              <a:t>yang</a:t>
            </a:r>
            <a:r>
              <a:rPr dirty="0" sz="90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D5E4EE"/>
                </a:solidFill>
                <a:latin typeface="Arial"/>
                <a:cs typeface="Arial"/>
              </a:rPr>
              <a:t>aman,</a:t>
            </a:r>
            <a:r>
              <a:rPr dirty="0" sz="9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D5E4EE"/>
                </a:solidFill>
                <a:latin typeface="Arial"/>
                <a:cs typeface="Arial"/>
              </a:rPr>
              <a:t>lurus,</a:t>
            </a:r>
            <a:r>
              <a:rPr dirty="0" sz="9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D5E4EE"/>
                </a:solidFill>
                <a:latin typeface="Arial"/>
                <a:cs typeface="Arial"/>
              </a:rPr>
              <a:t>dan</a:t>
            </a:r>
            <a:r>
              <a:rPr dirty="0" sz="9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D5E4EE"/>
                </a:solidFill>
                <a:latin typeface="Arial"/>
                <a:cs typeface="Arial"/>
              </a:rPr>
              <a:t>terkendali.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824" y="1403972"/>
            <a:ext cx="6418287" cy="2937421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6414313" y="3627246"/>
            <a:ext cx="944244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D5E4EE"/>
                </a:solidFill>
                <a:latin typeface="Arial"/>
                <a:cs typeface="Arial"/>
              </a:rPr>
              <a:t>Sikap</a:t>
            </a:r>
            <a:r>
              <a:rPr dirty="0" sz="1450" spc="-4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D5E4EE"/>
                </a:solidFill>
                <a:latin typeface="Arial"/>
                <a:cs typeface="Arial"/>
              </a:rPr>
              <a:t>Akhir</a:t>
            </a:r>
            <a:endParaRPr sz="14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946827" y="3511181"/>
            <a:ext cx="842010" cy="47625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47955" marR="5080" indent="-148590">
              <a:lnSpc>
                <a:spcPct val="104000"/>
              </a:lnSpc>
              <a:spcBef>
                <a:spcPts val="30"/>
              </a:spcBef>
            </a:pPr>
            <a:r>
              <a:rPr dirty="0" sz="1450">
                <a:solidFill>
                  <a:srgbClr val="D5E4EE"/>
                </a:solidFill>
                <a:latin typeface="Arial"/>
                <a:cs typeface="Arial"/>
              </a:rPr>
              <a:t>Tolakan</a:t>
            </a:r>
            <a:r>
              <a:rPr dirty="0" sz="1450" spc="-8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D5E4EE"/>
                </a:solidFill>
                <a:latin typeface="Arial"/>
                <a:cs typeface="Arial"/>
              </a:rPr>
              <a:t>&amp; </a:t>
            </a:r>
            <a:r>
              <a:rPr dirty="0" sz="1450" spc="-10">
                <a:solidFill>
                  <a:srgbClr val="D5E4EE"/>
                </a:solidFill>
                <a:latin typeface="Arial"/>
                <a:cs typeface="Arial"/>
              </a:rPr>
              <a:t>Guling</a:t>
            </a:r>
            <a:endParaRPr sz="14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375021" y="3627246"/>
            <a:ext cx="964565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D5E4EE"/>
                </a:solidFill>
                <a:latin typeface="Arial"/>
                <a:cs typeface="Arial"/>
              </a:rPr>
              <a:t>Kunci</a:t>
            </a:r>
            <a:r>
              <a:rPr dirty="0" sz="1450" spc="-4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450" spc="-20">
                <a:solidFill>
                  <a:srgbClr val="D5E4EE"/>
                </a:solidFill>
                <a:latin typeface="Arial"/>
                <a:cs typeface="Arial"/>
              </a:rPr>
              <a:t>Dagu</a:t>
            </a:r>
            <a:endParaRPr sz="14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852213" y="3627246"/>
            <a:ext cx="923925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D5E4EE"/>
                </a:solidFill>
                <a:latin typeface="Arial"/>
                <a:cs typeface="Arial"/>
              </a:rPr>
              <a:t>Sikap</a:t>
            </a:r>
            <a:r>
              <a:rPr dirty="0" sz="1450" spc="-4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450" spc="-20">
                <a:solidFill>
                  <a:srgbClr val="D5E4EE"/>
                </a:solidFill>
                <a:latin typeface="Arial"/>
                <a:cs typeface="Arial"/>
              </a:rPr>
              <a:t>Awal</a:t>
            </a:r>
            <a:endParaRPr sz="14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32518" y="4408208"/>
            <a:ext cx="7673975" cy="363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3000"/>
              </a:lnSpc>
              <a:spcBef>
                <a:spcPts val="100"/>
              </a:spcBef>
            </a:pPr>
            <a:r>
              <a:rPr dirty="0" sz="900">
                <a:solidFill>
                  <a:srgbClr val="D5E4EE"/>
                </a:solidFill>
                <a:latin typeface="Arial"/>
                <a:cs typeface="Arial"/>
              </a:rPr>
              <a:t>Setiap</a:t>
            </a:r>
            <a:r>
              <a:rPr dirty="0" sz="90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D5E4EE"/>
                </a:solidFill>
                <a:latin typeface="Arial"/>
                <a:cs typeface="Arial"/>
              </a:rPr>
              <a:t>tahapan</a:t>
            </a:r>
            <a:r>
              <a:rPr dirty="0" sz="90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D5E4EE"/>
                </a:solidFill>
                <a:latin typeface="Arial"/>
                <a:cs typeface="Arial"/>
              </a:rPr>
              <a:t>saling</a:t>
            </a:r>
            <a:r>
              <a:rPr dirty="0" sz="90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D5E4EE"/>
                </a:solidFill>
                <a:latin typeface="Arial"/>
                <a:cs typeface="Arial"/>
              </a:rPr>
              <a:t>bergantung</a:t>
            </a:r>
            <a:r>
              <a:rPr dirty="0" sz="9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D5E4EE"/>
                </a:solidFill>
                <a:latin typeface="Arial"/>
                <a:cs typeface="Arial"/>
              </a:rPr>
              <a:t>—</a:t>
            </a:r>
            <a:r>
              <a:rPr dirty="0" sz="90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D5E4EE"/>
                </a:solidFill>
                <a:latin typeface="Arial"/>
                <a:cs typeface="Arial"/>
              </a:rPr>
              <a:t>kesalahan</a:t>
            </a:r>
            <a:r>
              <a:rPr dirty="0" sz="90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D5E4EE"/>
                </a:solidFill>
                <a:latin typeface="Arial"/>
                <a:cs typeface="Arial"/>
              </a:rPr>
              <a:t>di</a:t>
            </a:r>
            <a:r>
              <a:rPr dirty="0" sz="9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D5E4EE"/>
                </a:solidFill>
                <a:latin typeface="Arial"/>
                <a:cs typeface="Arial"/>
              </a:rPr>
              <a:t>satu</a:t>
            </a:r>
            <a:r>
              <a:rPr dirty="0" sz="90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D5E4EE"/>
                </a:solidFill>
                <a:latin typeface="Arial"/>
                <a:cs typeface="Arial"/>
              </a:rPr>
              <a:t>tahap</a:t>
            </a:r>
            <a:r>
              <a:rPr dirty="0" sz="90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D5E4EE"/>
                </a:solidFill>
                <a:latin typeface="Arial"/>
                <a:cs typeface="Arial"/>
              </a:rPr>
              <a:t>akan</a:t>
            </a:r>
            <a:r>
              <a:rPr dirty="0" sz="9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D5E4EE"/>
                </a:solidFill>
                <a:latin typeface="Arial"/>
                <a:cs typeface="Arial"/>
              </a:rPr>
              <a:t>mempengaruhi</a:t>
            </a:r>
            <a:r>
              <a:rPr dirty="0" sz="90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D5E4EE"/>
                </a:solidFill>
                <a:latin typeface="Arial"/>
                <a:cs typeface="Arial"/>
              </a:rPr>
              <a:t>kualitas</a:t>
            </a:r>
            <a:r>
              <a:rPr dirty="0" sz="90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D5E4EE"/>
                </a:solidFill>
                <a:latin typeface="Arial"/>
                <a:cs typeface="Arial"/>
              </a:rPr>
              <a:t>gulingan</a:t>
            </a:r>
            <a:r>
              <a:rPr dirty="0" sz="9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D5E4EE"/>
                </a:solidFill>
                <a:latin typeface="Arial"/>
                <a:cs typeface="Arial"/>
              </a:rPr>
              <a:t>secara</a:t>
            </a:r>
            <a:r>
              <a:rPr dirty="0" sz="90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D5E4EE"/>
                </a:solidFill>
                <a:latin typeface="Arial"/>
                <a:cs typeface="Arial"/>
              </a:rPr>
              <a:t>keseluruhan.</a:t>
            </a:r>
            <a:r>
              <a:rPr dirty="0" sz="90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D5E4EE"/>
                </a:solidFill>
                <a:latin typeface="Arial"/>
                <a:cs typeface="Arial"/>
              </a:rPr>
              <a:t>Kuasai</a:t>
            </a:r>
            <a:r>
              <a:rPr dirty="0" sz="9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D5E4EE"/>
                </a:solidFill>
                <a:latin typeface="Arial"/>
                <a:cs typeface="Arial"/>
              </a:rPr>
              <a:t>satu</a:t>
            </a:r>
            <a:r>
              <a:rPr dirty="0" sz="90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D5E4EE"/>
                </a:solidFill>
                <a:latin typeface="Arial"/>
                <a:cs typeface="Arial"/>
              </a:rPr>
              <a:t>per</a:t>
            </a:r>
            <a:r>
              <a:rPr dirty="0" sz="90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D5E4EE"/>
                </a:solidFill>
                <a:latin typeface="Arial"/>
                <a:cs typeface="Arial"/>
              </a:rPr>
              <a:t>satu</a:t>
            </a:r>
            <a:r>
              <a:rPr dirty="0" sz="90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D5E4EE"/>
                </a:solidFill>
                <a:latin typeface="Arial"/>
                <a:cs typeface="Arial"/>
              </a:rPr>
              <a:t>sebelum menggabungkannya!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3870871" y="349821"/>
            <a:ext cx="1016000" cy="228600"/>
          </a:xfrm>
          <a:custGeom>
            <a:avLst/>
            <a:gdLst/>
            <a:ahLst/>
            <a:cxnLst/>
            <a:rect l="l" t="t" r="r" b="b"/>
            <a:pathLst>
              <a:path w="1016000" h="228600">
                <a:moveTo>
                  <a:pt x="1008689" y="0"/>
                </a:moveTo>
                <a:lnTo>
                  <a:pt x="6839" y="0"/>
                </a:lnTo>
                <a:lnTo>
                  <a:pt x="0" y="6845"/>
                </a:lnTo>
                <a:lnTo>
                  <a:pt x="0" y="15151"/>
                </a:lnTo>
                <a:lnTo>
                  <a:pt x="0" y="221614"/>
                </a:lnTo>
                <a:lnTo>
                  <a:pt x="6839" y="228447"/>
                </a:lnTo>
                <a:lnTo>
                  <a:pt x="1008689" y="228447"/>
                </a:lnTo>
                <a:lnTo>
                  <a:pt x="1015528" y="221614"/>
                </a:lnTo>
                <a:lnTo>
                  <a:pt x="1015528" y="6845"/>
                </a:lnTo>
                <a:lnTo>
                  <a:pt x="1008689" y="0"/>
                </a:lnTo>
                <a:close/>
              </a:path>
            </a:pathLst>
          </a:custGeom>
          <a:solidFill>
            <a:srgbClr val="0724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3933926" y="372977"/>
            <a:ext cx="90360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D5E4EE"/>
                </a:solidFill>
                <a:latin typeface="Arial"/>
                <a:cs typeface="Arial"/>
              </a:rPr>
              <a:t>JOYFUL</a:t>
            </a:r>
            <a:r>
              <a:rPr dirty="0" sz="75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D5E4EE"/>
                </a:solidFill>
                <a:latin typeface="Arial"/>
                <a:cs typeface="Arial"/>
              </a:rPr>
              <a:t>LEARNING</a:t>
            </a:r>
            <a:endParaRPr sz="75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58171" y="603939"/>
            <a:ext cx="4020185" cy="787400"/>
          </a:xfrm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ts val="3060"/>
              </a:lnSpc>
              <a:spcBef>
                <a:spcPts val="75"/>
              </a:spcBef>
            </a:pPr>
            <a:r>
              <a:rPr dirty="0" sz="2450"/>
              <a:t>Kolaborasi</a:t>
            </a:r>
            <a:r>
              <a:rPr dirty="0" sz="2450" spc="-90"/>
              <a:t> </a:t>
            </a:r>
            <a:r>
              <a:rPr dirty="0" sz="2450"/>
              <a:t>&amp;</a:t>
            </a:r>
            <a:r>
              <a:rPr dirty="0" sz="2450" spc="-85"/>
              <a:t> </a:t>
            </a:r>
            <a:r>
              <a:rPr dirty="0" sz="2450"/>
              <a:t>Saling</a:t>
            </a:r>
            <a:r>
              <a:rPr dirty="0" sz="2450" spc="-90"/>
              <a:t> </a:t>
            </a:r>
            <a:r>
              <a:rPr dirty="0" sz="2450" spc="-10"/>
              <a:t>Menjaga </a:t>
            </a:r>
            <a:r>
              <a:rPr dirty="0" sz="2450"/>
              <a:t>Keselamatan</a:t>
            </a:r>
            <a:r>
              <a:rPr dirty="0" sz="2450" spc="-50"/>
              <a:t> </a:t>
            </a:r>
            <a:r>
              <a:rPr dirty="0" sz="2450" spc="290">
                <a:solidFill>
                  <a:srgbClr val="000000"/>
                </a:solidFill>
                <a:latin typeface="Segoe UI Symbol"/>
                <a:cs typeface="Segoe UI Symbol"/>
              </a:rPr>
              <a:t>🤝</a:t>
            </a:r>
            <a:endParaRPr sz="2450">
              <a:latin typeface="Segoe UI Symbol"/>
              <a:cs typeface="Segoe UI Symbo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858168" y="1542313"/>
            <a:ext cx="4576445" cy="390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6000"/>
              </a:lnSpc>
              <a:spcBef>
                <a:spcPts val="100"/>
              </a:spcBef>
            </a:pP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Setiap</a:t>
            </a:r>
            <a:r>
              <a:rPr dirty="0" sz="95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siswa</a:t>
            </a:r>
            <a:r>
              <a:rPr dirty="0" sz="95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D5E4EE"/>
                </a:solidFill>
                <a:latin typeface="Arial"/>
                <a:cs typeface="Arial"/>
              </a:rPr>
              <a:t>wajib</a:t>
            </a:r>
            <a:r>
              <a:rPr dirty="0" sz="950" spc="-10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D5E4EE"/>
                </a:solidFill>
                <a:latin typeface="Arial"/>
                <a:cs typeface="Arial"/>
              </a:rPr>
              <a:t>mencari</a:t>
            </a:r>
            <a:r>
              <a:rPr dirty="0" sz="950" spc="-15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D5E4EE"/>
                </a:solidFill>
                <a:latin typeface="Arial"/>
                <a:cs typeface="Arial"/>
              </a:rPr>
              <a:t>satu</a:t>
            </a:r>
            <a:r>
              <a:rPr dirty="0" sz="950" spc="-10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D5E4EE"/>
                </a:solidFill>
                <a:latin typeface="Arial"/>
                <a:cs typeface="Arial"/>
              </a:rPr>
              <a:t>pasangan</a:t>
            </a:r>
            <a:r>
              <a:rPr dirty="0" sz="950" spc="-15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D5E4EE"/>
                </a:solidFill>
                <a:latin typeface="Arial"/>
                <a:cs typeface="Arial"/>
              </a:rPr>
              <a:t>(buddy)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di</a:t>
            </a:r>
            <a:r>
              <a:rPr dirty="0" sz="950" spc="-1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area</a:t>
            </a:r>
            <a:r>
              <a:rPr dirty="0" sz="95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matras</a:t>
            </a:r>
            <a:r>
              <a:rPr dirty="0" sz="950" spc="-10">
                <a:solidFill>
                  <a:srgbClr val="D5E4EE"/>
                </a:solidFill>
                <a:latin typeface="Arial"/>
                <a:cs typeface="Arial"/>
              </a:rPr>
              <a:t> masing-masing.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Keamanan</a:t>
            </a:r>
            <a:r>
              <a:rPr dirty="0" sz="950" spc="-3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adalah</a:t>
            </a:r>
            <a:r>
              <a:rPr dirty="0" sz="950" spc="-3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tanggung</a:t>
            </a:r>
            <a:r>
              <a:rPr dirty="0" sz="950" spc="-3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jawab</a:t>
            </a:r>
            <a:r>
              <a:rPr dirty="0" sz="95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D5E4EE"/>
                </a:solidFill>
                <a:latin typeface="Arial"/>
                <a:cs typeface="Arial"/>
              </a:rPr>
              <a:t>bersama!</a:t>
            </a:r>
            <a:endParaRPr sz="950">
              <a:latin typeface="Arial"/>
              <a:cs typeface="Arial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3870871" y="2103615"/>
            <a:ext cx="2359660" cy="1674495"/>
          </a:xfrm>
          <a:custGeom>
            <a:avLst/>
            <a:gdLst/>
            <a:ahLst/>
            <a:cxnLst/>
            <a:rect l="l" t="t" r="r" b="b"/>
            <a:pathLst>
              <a:path w="2359660" h="1674495">
                <a:moveTo>
                  <a:pt x="2340444" y="0"/>
                </a:moveTo>
                <a:lnTo>
                  <a:pt x="18931" y="0"/>
                </a:lnTo>
                <a:lnTo>
                  <a:pt x="11591" y="1497"/>
                </a:lnTo>
                <a:lnTo>
                  <a:pt x="5571" y="5572"/>
                </a:lnTo>
                <a:lnTo>
                  <a:pt x="1497" y="11594"/>
                </a:lnTo>
                <a:lnTo>
                  <a:pt x="0" y="18935"/>
                </a:lnTo>
                <a:lnTo>
                  <a:pt x="0" y="1654937"/>
                </a:lnTo>
                <a:lnTo>
                  <a:pt x="1497" y="1662278"/>
                </a:lnTo>
                <a:lnTo>
                  <a:pt x="5571" y="1668300"/>
                </a:lnTo>
                <a:lnTo>
                  <a:pt x="11591" y="1672374"/>
                </a:lnTo>
                <a:lnTo>
                  <a:pt x="18931" y="1673872"/>
                </a:lnTo>
                <a:lnTo>
                  <a:pt x="2340444" y="1673872"/>
                </a:lnTo>
                <a:lnTo>
                  <a:pt x="2347778" y="1672374"/>
                </a:lnTo>
                <a:lnTo>
                  <a:pt x="2353797" y="1668300"/>
                </a:lnTo>
                <a:lnTo>
                  <a:pt x="2357870" y="1662278"/>
                </a:lnTo>
                <a:lnTo>
                  <a:pt x="2359367" y="1654937"/>
                </a:lnTo>
                <a:lnTo>
                  <a:pt x="2359367" y="18935"/>
                </a:lnTo>
                <a:lnTo>
                  <a:pt x="2357870" y="11594"/>
                </a:lnTo>
                <a:lnTo>
                  <a:pt x="2353797" y="5572"/>
                </a:lnTo>
                <a:lnTo>
                  <a:pt x="2347778" y="1497"/>
                </a:lnTo>
                <a:lnTo>
                  <a:pt x="2340444" y="0"/>
                </a:lnTo>
                <a:close/>
              </a:path>
            </a:pathLst>
          </a:custGeom>
          <a:solidFill>
            <a:srgbClr val="3E46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4141011" y="2213889"/>
            <a:ext cx="17703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D5E4EE"/>
                </a:solidFill>
                <a:latin typeface="Arial"/>
                <a:cs typeface="Arial"/>
              </a:rPr>
              <a:t>Tugas</a:t>
            </a:r>
            <a:r>
              <a:rPr dirty="0" sz="1200" spc="-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D5E4EE"/>
                </a:solidFill>
                <a:latin typeface="Arial"/>
                <a:cs typeface="Arial"/>
              </a:rPr>
              <a:t>Partner</a:t>
            </a:r>
            <a:r>
              <a:rPr dirty="0" sz="1200" spc="-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D5E4EE"/>
                </a:solidFill>
                <a:latin typeface="Arial"/>
                <a:cs typeface="Arial"/>
              </a:rPr>
              <a:t>Pengaman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984371" y="2643644"/>
            <a:ext cx="2130425" cy="755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6000"/>
              </a:lnSpc>
              <a:spcBef>
                <a:spcPts val="100"/>
              </a:spcBef>
            </a:pP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Berdiri</a:t>
            </a:r>
            <a:r>
              <a:rPr dirty="0" sz="950" spc="-3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atau</a:t>
            </a:r>
            <a:r>
              <a:rPr dirty="0" sz="95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berlutut</a:t>
            </a:r>
            <a:r>
              <a:rPr dirty="0" sz="95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di</a:t>
            </a:r>
            <a:r>
              <a:rPr dirty="0" sz="95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samping</a:t>
            </a:r>
            <a:r>
              <a:rPr dirty="0" sz="95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D5E4EE"/>
                </a:solidFill>
                <a:latin typeface="Arial"/>
                <a:cs typeface="Arial"/>
              </a:rPr>
              <a:t>matras.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Bantu</a:t>
            </a:r>
            <a:r>
              <a:rPr dirty="0" sz="95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D5E4EE"/>
                </a:solidFill>
                <a:latin typeface="Arial"/>
                <a:cs typeface="Arial"/>
              </a:rPr>
              <a:t>menyangga</a:t>
            </a:r>
            <a:r>
              <a:rPr dirty="0" sz="950" spc="-25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D5E4EE"/>
                </a:solidFill>
                <a:latin typeface="Arial"/>
                <a:cs typeface="Arial"/>
              </a:rPr>
              <a:t>dan</a:t>
            </a:r>
            <a:r>
              <a:rPr dirty="0" sz="950" spc="-20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D5E4EE"/>
                </a:solidFill>
                <a:latin typeface="Arial"/>
                <a:cs typeface="Arial"/>
              </a:rPr>
              <a:t>mendorong </a:t>
            </a:r>
            <a:r>
              <a:rPr dirty="0" sz="950" b="1">
                <a:solidFill>
                  <a:srgbClr val="D5E4EE"/>
                </a:solidFill>
                <a:latin typeface="Arial"/>
                <a:cs typeface="Arial"/>
              </a:rPr>
              <a:t>punggung</a:t>
            </a:r>
            <a:r>
              <a:rPr dirty="0" sz="950" spc="-25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teman</a:t>
            </a:r>
            <a:r>
              <a:rPr dirty="0" sz="950" spc="-3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saat</a:t>
            </a:r>
            <a:r>
              <a:rPr dirty="0" sz="95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berguling</a:t>
            </a:r>
            <a:r>
              <a:rPr dirty="0" sz="95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D5E4EE"/>
                </a:solidFill>
                <a:latin typeface="Arial"/>
                <a:cs typeface="Arial"/>
              </a:rPr>
              <a:t>agar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arah</a:t>
            </a:r>
            <a:r>
              <a:rPr dirty="0" sz="95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putaran</a:t>
            </a:r>
            <a:r>
              <a:rPr dirty="0" sz="95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tetap</a:t>
            </a:r>
            <a:r>
              <a:rPr dirty="0" sz="95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lurus</a:t>
            </a:r>
            <a:r>
              <a:rPr dirty="0" sz="95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dan</a:t>
            </a:r>
            <a:r>
              <a:rPr dirty="0" sz="95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D5E4EE"/>
                </a:solidFill>
                <a:latin typeface="Arial"/>
                <a:cs typeface="Arial"/>
              </a:rPr>
              <a:t>terkendali.</a:t>
            </a:r>
            <a:endParaRPr sz="950">
              <a:latin typeface="Arial"/>
              <a:cs typeface="Arial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6342684" y="2103615"/>
            <a:ext cx="2359660" cy="1674495"/>
          </a:xfrm>
          <a:custGeom>
            <a:avLst/>
            <a:gdLst/>
            <a:ahLst/>
            <a:cxnLst/>
            <a:rect l="l" t="t" r="r" b="b"/>
            <a:pathLst>
              <a:path w="2359659" h="1674495">
                <a:moveTo>
                  <a:pt x="2340521" y="0"/>
                </a:moveTo>
                <a:lnTo>
                  <a:pt x="18931" y="0"/>
                </a:lnTo>
                <a:lnTo>
                  <a:pt x="11591" y="1497"/>
                </a:lnTo>
                <a:lnTo>
                  <a:pt x="5571" y="5572"/>
                </a:lnTo>
                <a:lnTo>
                  <a:pt x="1497" y="11594"/>
                </a:lnTo>
                <a:lnTo>
                  <a:pt x="0" y="18935"/>
                </a:lnTo>
                <a:lnTo>
                  <a:pt x="0" y="1654937"/>
                </a:lnTo>
                <a:lnTo>
                  <a:pt x="1497" y="1662278"/>
                </a:lnTo>
                <a:lnTo>
                  <a:pt x="5571" y="1668300"/>
                </a:lnTo>
                <a:lnTo>
                  <a:pt x="11591" y="1672374"/>
                </a:lnTo>
                <a:lnTo>
                  <a:pt x="18931" y="1673872"/>
                </a:lnTo>
                <a:lnTo>
                  <a:pt x="2340521" y="1673872"/>
                </a:lnTo>
                <a:lnTo>
                  <a:pt x="2347855" y="1672374"/>
                </a:lnTo>
                <a:lnTo>
                  <a:pt x="2353873" y="1668300"/>
                </a:lnTo>
                <a:lnTo>
                  <a:pt x="2357946" y="1662278"/>
                </a:lnTo>
                <a:lnTo>
                  <a:pt x="2359444" y="1654937"/>
                </a:lnTo>
                <a:lnTo>
                  <a:pt x="2359444" y="18935"/>
                </a:lnTo>
                <a:lnTo>
                  <a:pt x="2357946" y="11594"/>
                </a:lnTo>
                <a:lnTo>
                  <a:pt x="2353873" y="5572"/>
                </a:lnTo>
                <a:lnTo>
                  <a:pt x="2347855" y="1497"/>
                </a:lnTo>
                <a:lnTo>
                  <a:pt x="2340521" y="0"/>
                </a:lnTo>
                <a:close/>
              </a:path>
            </a:pathLst>
          </a:custGeom>
          <a:solidFill>
            <a:srgbClr val="3E46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6456184" y="2213889"/>
            <a:ext cx="1816100" cy="988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Segoe UI Symbol"/>
                <a:cs typeface="Segoe UI Symbol"/>
              </a:rPr>
              <a:t>👁</a:t>
            </a:r>
            <a:r>
              <a:rPr dirty="0" sz="1200" spc="-5">
                <a:latin typeface="Segoe UI Symbol"/>
                <a:cs typeface="Segoe UI Symbol"/>
              </a:rPr>
              <a:t> </a:t>
            </a:r>
            <a:r>
              <a:rPr dirty="0" sz="1200">
                <a:solidFill>
                  <a:srgbClr val="D5E4EE"/>
                </a:solidFill>
                <a:latin typeface="Arial"/>
                <a:cs typeface="Arial"/>
              </a:rPr>
              <a:t>Tugas</a:t>
            </a:r>
            <a:r>
              <a:rPr dirty="0" sz="1200" spc="-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D5E4EE"/>
                </a:solidFill>
                <a:latin typeface="Arial"/>
                <a:cs typeface="Arial"/>
              </a:rPr>
              <a:t>Pengamat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26000"/>
              </a:lnSpc>
              <a:spcBef>
                <a:spcPts val="390"/>
              </a:spcBef>
            </a:pP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Amati</a:t>
            </a:r>
            <a:r>
              <a:rPr dirty="0" sz="95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posisi</a:t>
            </a:r>
            <a:r>
              <a:rPr dirty="0" sz="95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tumpuan</a:t>
            </a:r>
            <a:r>
              <a:rPr dirty="0" sz="95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tangan</a:t>
            </a:r>
            <a:r>
              <a:rPr dirty="0" sz="950" spc="-25">
                <a:solidFill>
                  <a:srgbClr val="D5E4EE"/>
                </a:solidFill>
                <a:latin typeface="Arial"/>
                <a:cs typeface="Arial"/>
              </a:rPr>
              <a:t> dan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kelurusan</a:t>
            </a:r>
            <a:r>
              <a:rPr dirty="0" sz="950" spc="-4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gulingan</a:t>
            </a:r>
            <a:r>
              <a:rPr dirty="0" sz="950" spc="-3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teman</a:t>
            </a:r>
            <a:r>
              <a:rPr dirty="0" sz="950" spc="-3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D5E4EE"/>
                </a:solidFill>
                <a:latin typeface="Arial"/>
                <a:cs typeface="Arial"/>
              </a:rPr>
              <a:t>secara </a:t>
            </a:r>
            <a:r>
              <a:rPr dirty="0" sz="950" b="1">
                <a:solidFill>
                  <a:srgbClr val="D5E4EE"/>
                </a:solidFill>
                <a:latin typeface="Arial"/>
                <a:cs typeface="Arial"/>
              </a:rPr>
              <a:t>asertif</a:t>
            </a:r>
            <a:r>
              <a:rPr dirty="0" sz="950" spc="-15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D5E4EE"/>
                </a:solidFill>
                <a:latin typeface="Arial"/>
                <a:cs typeface="Arial"/>
              </a:rPr>
              <a:t>tanpa</a:t>
            </a:r>
            <a:r>
              <a:rPr dirty="0" sz="950" spc="-15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D5E4EE"/>
                </a:solidFill>
                <a:latin typeface="Arial"/>
                <a:cs typeface="Arial"/>
              </a:rPr>
              <a:t>tekanan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.</a:t>
            </a:r>
            <a:r>
              <a:rPr dirty="0" sz="95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D5E4EE"/>
                </a:solidFill>
                <a:latin typeface="Arial"/>
                <a:cs typeface="Arial"/>
              </a:rPr>
              <a:t>Berikan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masukan</a:t>
            </a:r>
            <a:r>
              <a:rPr dirty="0" sz="95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yang</a:t>
            </a:r>
            <a:r>
              <a:rPr dirty="0" sz="95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D5E4EE"/>
                </a:solidFill>
                <a:latin typeface="Arial"/>
                <a:cs typeface="Arial"/>
              </a:rPr>
              <a:t>membangun.</a:t>
            </a:r>
            <a:endParaRPr sz="950">
              <a:latin typeface="Arial"/>
              <a:cs typeface="Arial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3870871" y="3889921"/>
            <a:ext cx="4831715" cy="904240"/>
          </a:xfrm>
          <a:custGeom>
            <a:avLst/>
            <a:gdLst/>
            <a:ahLst/>
            <a:cxnLst/>
            <a:rect l="l" t="t" r="r" b="b"/>
            <a:pathLst>
              <a:path w="4831715" h="904239">
                <a:moveTo>
                  <a:pt x="4812322" y="0"/>
                </a:moveTo>
                <a:lnTo>
                  <a:pt x="18942" y="0"/>
                </a:lnTo>
                <a:lnTo>
                  <a:pt x="11598" y="1498"/>
                </a:lnTo>
                <a:lnTo>
                  <a:pt x="5574" y="5573"/>
                </a:lnTo>
                <a:lnTo>
                  <a:pt x="1498" y="11599"/>
                </a:lnTo>
                <a:lnTo>
                  <a:pt x="0" y="18948"/>
                </a:lnTo>
                <a:lnTo>
                  <a:pt x="0" y="884821"/>
                </a:lnTo>
                <a:lnTo>
                  <a:pt x="1498" y="892163"/>
                </a:lnTo>
                <a:lnTo>
                  <a:pt x="5574" y="898185"/>
                </a:lnTo>
                <a:lnTo>
                  <a:pt x="11598" y="902259"/>
                </a:lnTo>
                <a:lnTo>
                  <a:pt x="18942" y="903757"/>
                </a:lnTo>
                <a:lnTo>
                  <a:pt x="4812322" y="903757"/>
                </a:lnTo>
                <a:lnTo>
                  <a:pt x="4819663" y="902259"/>
                </a:lnTo>
                <a:lnTo>
                  <a:pt x="4825685" y="898185"/>
                </a:lnTo>
                <a:lnTo>
                  <a:pt x="4829759" y="892163"/>
                </a:lnTo>
                <a:lnTo>
                  <a:pt x="4831257" y="884821"/>
                </a:lnTo>
                <a:lnTo>
                  <a:pt x="4831257" y="18948"/>
                </a:lnTo>
                <a:lnTo>
                  <a:pt x="4829759" y="11599"/>
                </a:lnTo>
                <a:lnTo>
                  <a:pt x="4825685" y="5573"/>
                </a:lnTo>
                <a:lnTo>
                  <a:pt x="4819663" y="1498"/>
                </a:lnTo>
                <a:lnTo>
                  <a:pt x="4812322" y="0"/>
                </a:lnTo>
                <a:close/>
              </a:path>
            </a:pathLst>
          </a:custGeom>
          <a:solidFill>
            <a:srgbClr val="3E46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3984371" y="4000195"/>
            <a:ext cx="4069079" cy="622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310">
                <a:latin typeface="Segoe UI Symbol"/>
                <a:cs typeface="Segoe UI Symbol"/>
              </a:rPr>
              <a:t>🔄</a:t>
            </a:r>
            <a:r>
              <a:rPr dirty="0" sz="1200">
                <a:latin typeface="Segoe UI Symbol"/>
                <a:cs typeface="Segoe UI Symbol"/>
              </a:rPr>
              <a:t> </a:t>
            </a:r>
            <a:r>
              <a:rPr dirty="0" sz="1200" spc="-10">
                <a:solidFill>
                  <a:srgbClr val="D5E4EE"/>
                </a:solidFill>
                <a:latin typeface="Arial"/>
                <a:cs typeface="Arial"/>
              </a:rPr>
              <a:t>Bergantian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26000"/>
              </a:lnSpc>
              <a:spcBef>
                <a:spcPts val="390"/>
              </a:spcBef>
            </a:pP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Lakukan</a:t>
            </a:r>
            <a:r>
              <a:rPr dirty="0" sz="950" spc="-3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secara</a:t>
            </a:r>
            <a:r>
              <a:rPr dirty="0" sz="950" spc="-3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bergantian.</a:t>
            </a:r>
            <a:r>
              <a:rPr dirty="0" sz="950" spc="-3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Setiap</a:t>
            </a:r>
            <a:r>
              <a:rPr dirty="0" sz="950" spc="-3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siswa</a:t>
            </a:r>
            <a:r>
              <a:rPr dirty="0" sz="950" spc="-3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merasakan</a:t>
            </a:r>
            <a:r>
              <a:rPr dirty="0" sz="950" spc="-3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peran</a:t>
            </a:r>
            <a:r>
              <a:rPr dirty="0" sz="950" spc="-3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sebagai</a:t>
            </a:r>
            <a:r>
              <a:rPr dirty="0" sz="95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D5E4EE"/>
                </a:solidFill>
                <a:latin typeface="Arial"/>
                <a:cs typeface="Arial"/>
              </a:rPr>
              <a:t>pelaku </a:t>
            </a:r>
            <a:r>
              <a:rPr dirty="0" sz="950" b="1">
                <a:solidFill>
                  <a:srgbClr val="D5E4EE"/>
                </a:solidFill>
                <a:latin typeface="Arial"/>
                <a:cs typeface="Arial"/>
              </a:rPr>
              <a:t>gulingan</a:t>
            </a:r>
            <a:r>
              <a:rPr dirty="0" sz="950" spc="-20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5E4EE"/>
                </a:solidFill>
                <a:latin typeface="Arial"/>
                <a:cs typeface="Arial"/>
              </a:rPr>
              <a:t>sekaligus</a:t>
            </a:r>
            <a:r>
              <a:rPr dirty="0" sz="950" spc="-2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D5E4EE"/>
                </a:solidFill>
                <a:latin typeface="Arial"/>
                <a:cs typeface="Arial"/>
              </a:rPr>
              <a:t>partner</a:t>
            </a:r>
            <a:r>
              <a:rPr dirty="0" sz="950" spc="-20" b="1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D5E4EE"/>
                </a:solidFill>
                <a:latin typeface="Arial"/>
                <a:cs typeface="Arial"/>
              </a:rPr>
              <a:t>pengaman</a:t>
            </a:r>
            <a:r>
              <a:rPr dirty="0" sz="950" spc="-10">
                <a:solidFill>
                  <a:srgbClr val="D5E4EE"/>
                </a:solidFill>
                <a:latin typeface="Arial"/>
                <a:cs typeface="Arial"/>
              </a:rPr>
              <a:t>.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8473" y="626166"/>
            <a:ext cx="120650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EVALUASI</a:t>
            </a:r>
            <a:r>
              <a:rPr dirty="0" sz="850" spc="-2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5E4EE"/>
                </a:solidFill>
                <a:latin typeface="Arial"/>
                <a:cs typeface="Arial"/>
              </a:rPr>
              <a:t>&amp;</a:t>
            </a:r>
            <a:r>
              <a:rPr dirty="0" sz="850" spc="-1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D5E4EE"/>
                </a:solidFill>
                <a:latin typeface="Arial"/>
                <a:cs typeface="Arial"/>
              </a:rPr>
              <a:t>REFLEKSI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3419" y="901675"/>
            <a:ext cx="5962015" cy="4445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/>
              <a:t>Uji</a:t>
            </a:r>
            <a:r>
              <a:rPr dirty="0" sz="2750" spc="-35"/>
              <a:t> </a:t>
            </a:r>
            <a:r>
              <a:rPr dirty="0" sz="2750"/>
              <a:t>Pemahaman</a:t>
            </a:r>
            <a:r>
              <a:rPr dirty="0" sz="2750" spc="-35"/>
              <a:t> </a:t>
            </a:r>
            <a:r>
              <a:rPr dirty="0" sz="2750"/>
              <a:t>&amp;</a:t>
            </a:r>
            <a:r>
              <a:rPr dirty="0" sz="2750" spc="-35"/>
              <a:t> </a:t>
            </a:r>
            <a:r>
              <a:rPr dirty="0" sz="2750"/>
              <a:t>Refleksi</a:t>
            </a:r>
            <a:r>
              <a:rPr dirty="0" sz="2750" spc="-35"/>
              <a:t> </a:t>
            </a:r>
            <a:r>
              <a:rPr dirty="0" sz="2750"/>
              <a:t>Mandiri</a:t>
            </a:r>
            <a:r>
              <a:rPr dirty="0" sz="2750" spc="-25"/>
              <a:t> </a:t>
            </a:r>
            <a:r>
              <a:rPr dirty="0" sz="2750" spc="665">
                <a:solidFill>
                  <a:srgbClr val="000000"/>
                </a:solidFill>
                <a:latin typeface="Segoe UI Symbol"/>
                <a:cs typeface="Segoe UI Symbol"/>
              </a:rPr>
              <a:t>📊</a:t>
            </a:r>
            <a:endParaRPr sz="2750">
              <a:latin typeface="Segoe UI Symbol"/>
              <a:cs typeface="Segoe UI Symbo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444" y="1739290"/>
            <a:ext cx="98425" cy="196850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496119" y="2941294"/>
            <a:ext cx="3903345" cy="779780"/>
            <a:chOff x="496119" y="2941294"/>
            <a:chExt cx="3903345" cy="779780"/>
          </a:xfrm>
        </p:grpSpPr>
        <p:sp>
          <p:nvSpPr>
            <p:cNvPr id="6" name="object 6" descr=""/>
            <p:cNvSpPr/>
            <p:nvPr/>
          </p:nvSpPr>
          <p:spPr>
            <a:xfrm>
              <a:off x="496119" y="2941294"/>
              <a:ext cx="3903345" cy="779780"/>
            </a:xfrm>
            <a:custGeom>
              <a:avLst/>
              <a:gdLst/>
              <a:ahLst/>
              <a:cxnLst/>
              <a:rect l="l" t="t" r="r" b="b"/>
              <a:pathLst>
                <a:path w="3903345" h="779779">
                  <a:moveTo>
                    <a:pt x="3881678" y="0"/>
                  </a:moveTo>
                  <a:lnTo>
                    <a:pt x="21266" y="0"/>
                  </a:lnTo>
                  <a:lnTo>
                    <a:pt x="13021" y="1682"/>
                  </a:lnTo>
                  <a:lnTo>
                    <a:pt x="6258" y="6257"/>
                  </a:lnTo>
                  <a:lnTo>
                    <a:pt x="1682" y="13019"/>
                  </a:lnTo>
                  <a:lnTo>
                    <a:pt x="0" y="21259"/>
                  </a:lnTo>
                  <a:lnTo>
                    <a:pt x="0" y="758291"/>
                  </a:lnTo>
                  <a:lnTo>
                    <a:pt x="1682" y="766539"/>
                  </a:lnTo>
                  <a:lnTo>
                    <a:pt x="6258" y="773304"/>
                  </a:lnTo>
                  <a:lnTo>
                    <a:pt x="13021" y="777881"/>
                  </a:lnTo>
                  <a:lnTo>
                    <a:pt x="21266" y="779564"/>
                  </a:lnTo>
                  <a:lnTo>
                    <a:pt x="3881678" y="779564"/>
                  </a:lnTo>
                  <a:lnTo>
                    <a:pt x="3889919" y="777881"/>
                  </a:lnTo>
                  <a:lnTo>
                    <a:pt x="3896680" y="773304"/>
                  </a:lnTo>
                  <a:lnTo>
                    <a:pt x="3901256" y="766539"/>
                  </a:lnTo>
                  <a:lnTo>
                    <a:pt x="3902938" y="758291"/>
                  </a:lnTo>
                  <a:lnTo>
                    <a:pt x="3902938" y="21259"/>
                  </a:lnTo>
                  <a:lnTo>
                    <a:pt x="3901256" y="13019"/>
                  </a:lnTo>
                  <a:lnTo>
                    <a:pt x="3896680" y="6257"/>
                  </a:lnTo>
                  <a:lnTo>
                    <a:pt x="3889919" y="1682"/>
                  </a:lnTo>
                  <a:lnTo>
                    <a:pt x="3881678" y="0"/>
                  </a:lnTo>
                  <a:close/>
                </a:path>
              </a:pathLst>
            </a:custGeom>
            <a:solidFill>
              <a:srgbClr val="02224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7876" y="3156343"/>
              <a:ext cx="177180" cy="141757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483419" y="1717065"/>
            <a:ext cx="3876675" cy="1794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7495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76B8FF"/>
                </a:solidFill>
                <a:latin typeface="Arial"/>
                <a:cs typeface="Arial"/>
              </a:rPr>
              <a:t>Kuis</a:t>
            </a:r>
            <a:r>
              <a:rPr dirty="0" sz="1350" spc="-15">
                <a:solidFill>
                  <a:srgbClr val="76B8FF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76B8FF"/>
                </a:solidFill>
                <a:latin typeface="Arial"/>
                <a:cs typeface="Arial"/>
              </a:rPr>
              <a:t>Interaktif</a:t>
            </a:r>
            <a:r>
              <a:rPr dirty="0" sz="1350" spc="-15">
                <a:solidFill>
                  <a:srgbClr val="76B8FF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76B8FF"/>
                </a:solidFill>
                <a:latin typeface="Arial"/>
                <a:cs typeface="Arial"/>
              </a:rPr>
              <a:t>Digital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3000"/>
              </a:lnSpc>
              <a:spcBef>
                <a:spcPts val="844"/>
              </a:spcBef>
            </a:pPr>
            <a:r>
              <a:rPr dirty="0" sz="1100">
                <a:solidFill>
                  <a:srgbClr val="D5E4EE"/>
                </a:solidFill>
                <a:latin typeface="Arial"/>
                <a:cs typeface="Arial"/>
              </a:rPr>
              <a:t>Pindai</a:t>
            </a:r>
            <a:r>
              <a:rPr dirty="0" sz="1100" spc="-3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5E4EE"/>
                </a:solidFill>
                <a:latin typeface="Arial"/>
                <a:cs typeface="Arial"/>
              </a:rPr>
              <a:t>kode</a:t>
            </a:r>
            <a:r>
              <a:rPr dirty="0" sz="1100" spc="-3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5E4EE"/>
                </a:solidFill>
                <a:latin typeface="Arial"/>
                <a:cs typeface="Arial"/>
              </a:rPr>
              <a:t>QR</a:t>
            </a:r>
            <a:r>
              <a:rPr dirty="0" sz="1100" spc="-3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5E4EE"/>
                </a:solidFill>
                <a:latin typeface="Arial"/>
                <a:cs typeface="Arial"/>
              </a:rPr>
              <a:t>di</a:t>
            </a:r>
            <a:r>
              <a:rPr dirty="0" sz="1100" spc="-3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5E4EE"/>
                </a:solidFill>
                <a:latin typeface="Arial"/>
                <a:cs typeface="Arial"/>
              </a:rPr>
              <a:t>bawah</a:t>
            </a:r>
            <a:r>
              <a:rPr dirty="0" sz="1100" spc="-3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5E4EE"/>
                </a:solidFill>
                <a:latin typeface="Arial"/>
                <a:cs typeface="Arial"/>
              </a:rPr>
              <a:t>untuk</a:t>
            </a:r>
            <a:r>
              <a:rPr dirty="0" sz="1100" spc="-3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5E4EE"/>
                </a:solidFill>
                <a:latin typeface="Arial"/>
                <a:cs typeface="Arial"/>
              </a:rPr>
              <a:t>menguji</a:t>
            </a:r>
            <a:r>
              <a:rPr dirty="0" sz="1100" spc="-3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5E4EE"/>
                </a:solidFill>
                <a:latin typeface="Arial"/>
                <a:cs typeface="Arial"/>
              </a:rPr>
              <a:t>pemahamanmu </a:t>
            </a:r>
            <a:r>
              <a:rPr dirty="0" sz="1100">
                <a:solidFill>
                  <a:srgbClr val="D5E4EE"/>
                </a:solidFill>
                <a:latin typeface="Arial"/>
                <a:cs typeface="Arial"/>
              </a:rPr>
              <a:t>tentang</a:t>
            </a:r>
            <a:r>
              <a:rPr dirty="0" sz="1100" spc="-4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5E4EE"/>
                </a:solidFill>
                <a:latin typeface="Arial"/>
                <a:cs typeface="Arial"/>
              </a:rPr>
              <a:t>runtutan</a:t>
            </a:r>
            <a:r>
              <a:rPr dirty="0" sz="1100" spc="-3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5E4EE"/>
                </a:solidFill>
                <a:latin typeface="Arial"/>
                <a:cs typeface="Arial"/>
              </a:rPr>
              <a:t>biomekanika</a:t>
            </a:r>
            <a:r>
              <a:rPr dirty="0" sz="1100" spc="-3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5E4EE"/>
                </a:solidFill>
                <a:latin typeface="Arial"/>
                <a:cs typeface="Arial"/>
              </a:rPr>
              <a:t>guling</a:t>
            </a:r>
            <a:r>
              <a:rPr dirty="0" sz="1100" spc="-4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5E4EE"/>
                </a:solidFill>
                <a:latin typeface="Arial"/>
                <a:cs typeface="Arial"/>
              </a:rPr>
              <a:t>depan</a:t>
            </a:r>
            <a:r>
              <a:rPr dirty="0" sz="1100" spc="-3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5E4EE"/>
                </a:solidFill>
                <a:latin typeface="Arial"/>
                <a:cs typeface="Arial"/>
              </a:rPr>
              <a:t>melalui</a:t>
            </a:r>
            <a:r>
              <a:rPr dirty="0" sz="1100" spc="-35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D5E4EE"/>
                </a:solidFill>
                <a:latin typeface="Arial"/>
                <a:cs typeface="Arial"/>
              </a:rPr>
              <a:t>kuis</a:t>
            </a:r>
            <a:r>
              <a:rPr dirty="0" sz="1100" spc="-4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D5E4EE"/>
                </a:solidFill>
                <a:latin typeface="Arial"/>
                <a:cs typeface="Arial"/>
              </a:rPr>
              <a:t>digital interaktif.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00">
              <a:latin typeface="Arial"/>
              <a:cs typeface="Arial"/>
            </a:endParaRPr>
          </a:p>
          <a:p>
            <a:pPr marL="473075" marR="284480">
              <a:lnSpc>
                <a:spcPct val="137100"/>
              </a:lnSpc>
            </a:pPr>
            <a:r>
              <a:rPr dirty="0" sz="1100" spc="285">
                <a:latin typeface="Segoe UI Symbol"/>
                <a:cs typeface="Segoe UI Symbol"/>
              </a:rPr>
              <a:t>📍</a:t>
            </a:r>
            <a:r>
              <a:rPr dirty="0" sz="1100" spc="-25">
                <a:latin typeface="Segoe UI Symbol"/>
                <a:cs typeface="Segoe UI Symbo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Tempelkan</a:t>
            </a:r>
            <a:r>
              <a:rPr dirty="0" sz="11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kode</a:t>
            </a:r>
            <a:r>
              <a:rPr dirty="0" sz="11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QR</a:t>
            </a:r>
            <a:r>
              <a:rPr dirty="0" sz="11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kuis</a:t>
            </a:r>
            <a:r>
              <a:rPr dirty="0" sz="11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interaktif</a:t>
            </a:r>
            <a:r>
              <a:rPr dirty="0" sz="11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Anda</a:t>
            </a:r>
            <a:r>
              <a:rPr dirty="0" sz="11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dirty="0" sz="1100" spc="-20">
                <a:solidFill>
                  <a:srgbClr val="FFFFFF"/>
                </a:solidFill>
                <a:latin typeface="Arial"/>
                <a:cs typeface="Arial"/>
              </a:rPr>
              <a:t> sini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sebelum</a:t>
            </a:r>
            <a:r>
              <a:rPr dirty="0" sz="11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presentasi.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4647603" y="1591640"/>
            <a:ext cx="4107179" cy="2289175"/>
          </a:xfrm>
          <a:custGeom>
            <a:avLst/>
            <a:gdLst/>
            <a:ahLst/>
            <a:cxnLst/>
            <a:rect l="l" t="t" r="r" b="b"/>
            <a:pathLst>
              <a:path w="4107179" h="2289175">
                <a:moveTo>
                  <a:pt x="4085869" y="0"/>
                </a:moveTo>
                <a:lnTo>
                  <a:pt x="21261" y="0"/>
                </a:lnTo>
                <a:lnTo>
                  <a:pt x="13018" y="1682"/>
                </a:lnTo>
                <a:lnTo>
                  <a:pt x="6256" y="6257"/>
                </a:lnTo>
                <a:lnTo>
                  <a:pt x="1681" y="13019"/>
                </a:lnTo>
                <a:lnTo>
                  <a:pt x="0" y="21259"/>
                </a:lnTo>
                <a:lnTo>
                  <a:pt x="0" y="2267419"/>
                </a:lnTo>
                <a:lnTo>
                  <a:pt x="1681" y="2275660"/>
                </a:lnTo>
                <a:lnTo>
                  <a:pt x="6256" y="2282421"/>
                </a:lnTo>
                <a:lnTo>
                  <a:pt x="13018" y="2286997"/>
                </a:lnTo>
                <a:lnTo>
                  <a:pt x="21261" y="2288679"/>
                </a:lnTo>
                <a:lnTo>
                  <a:pt x="4085869" y="2288679"/>
                </a:lnTo>
                <a:lnTo>
                  <a:pt x="4094115" y="2286997"/>
                </a:lnTo>
                <a:lnTo>
                  <a:pt x="4100876" y="2282421"/>
                </a:lnTo>
                <a:lnTo>
                  <a:pt x="4105448" y="2275660"/>
                </a:lnTo>
                <a:lnTo>
                  <a:pt x="4107129" y="2267419"/>
                </a:lnTo>
                <a:lnTo>
                  <a:pt x="4107129" y="21259"/>
                </a:lnTo>
                <a:lnTo>
                  <a:pt x="4105448" y="13019"/>
                </a:lnTo>
                <a:lnTo>
                  <a:pt x="4100876" y="6257"/>
                </a:lnTo>
                <a:lnTo>
                  <a:pt x="4094115" y="1682"/>
                </a:lnTo>
                <a:lnTo>
                  <a:pt x="4085869" y="0"/>
                </a:lnTo>
                <a:close/>
              </a:path>
            </a:pathLst>
          </a:custGeom>
          <a:solidFill>
            <a:srgbClr val="3156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4776660" y="1717065"/>
            <a:ext cx="3618229" cy="1670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350">
                <a:latin typeface="Segoe UI Symbol"/>
                <a:cs typeface="Segoe UI Symbol"/>
              </a:rPr>
              <a:t>💬</a:t>
            </a:r>
            <a:r>
              <a:rPr dirty="0" sz="1350" spc="-10">
                <a:latin typeface="Segoe UI Symbol"/>
                <a:cs typeface="Segoe UI Symbol"/>
              </a:rPr>
              <a:t> </a:t>
            </a:r>
            <a:r>
              <a:rPr dirty="0" sz="1350">
                <a:solidFill>
                  <a:srgbClr val="FFFFFF"/>
                </a:solidFill>
                <a:latin typeface="Arial"/>
                <a:cs typeface="Arial"/>
              </a:rPr>
              <a:t>Refleksi</a:t>
            </a:r>
            <a:r>
              <a:rPr dirty="0" sz="13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Arial"/>
                <a:cs typeface="Arial"/>
              </a:rPr>
              <a:t>Penutup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350">
              <a:latin typeface="Arial"/>
              <a:cs typeface="Arial"/>
            </a:endParaRPr>
          </a:p>
          <a:p>
            <a:pPr marL="224790" marR="5080">
              <a:lnSpc>
                <a:spcPct val="133000"/>
              </a:lnSpc>
            </a:pP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"Tubuh</a:t>
            </a:r>
            <a:r>
              <a:rPr dirty="0" sz="11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yang</a:t>
            </a:r>
            <a:r>
              <a:rPr dirty="0" sz="11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bugar,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lentur,</a:t>
            </a:r>
            <a:r>
              <a:rPr dirty="0" sz="11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dan</a:t>
            </a:r>
            <a:r>
              <a:rPr dirty="0" sz="11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terlatih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adalah</a:t>
            </a:r>
            <a:r>
              <a:rPr dirty="0" sz="11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benteng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pertahanan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terbaik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untuk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menjaga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keselamatan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diri."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100">
              <a:latin typeface="Arial"/>
              <a:cs typeface="Arial"/>
            </a:endParaRPr>
          </a:p>
          <a:p>
            <a:pPr marL="12700" marR="390525">
              <a:lnSpc>
                <a:spcPct val="133000"/>
              </a:lnSpc>
              <a:spcBef>
                <a:spcPts val="5"/>
              </a:spcBef>
            </a:pP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Sampai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jumpa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di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pertemuan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berikutnya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kita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"/>
                <a:cs typeface="Arial"/>
              </a:rPr>
              <a:t>akan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mempelajari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Guling</a:t>
            </a:r>
            <a:r>
              <a:rPr dirty="0" sz="11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Belakang!</a:t>
            </a:r>
            <a:r>
              <a:rPr dirty="0" sz="11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235">
                <a:latin typeface="Segoe UI Symbol"/>
                <a:cs typeface="Segoe UI Symbol"/>
              </a:rPr>
              <a:t>🔄</a:t>
            </a:r>
            <a:endParaRPr sz="1100">
              <a:latin typeface="Segoe UI Symbol"/>
              <a:cs typeface="Segoe UI Symbol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496119" y="4039793"/>
            <a:ext cx="2623185" cy="505459"/>
          </a:xfrm>
          <a:custGeom>
            <a:avLst/>
            <a:gdLst/>
            <a:ahLst/>
            <a:cxnLst/>
            <a:rect l="l" t="t" r="r" b="b"/>
            <a:pathLst>
              <a:path w="2623185" h="505460">
                <a:moveTo>
                  <a:pt x="2601455" y="0"/>
                </a:moveTo>
                <a:lnTo>
                  <a:pt x="21264" y="0"/>
                </a:lnTo>
                <a:lnTo>
                  <a:pt x="13020" y="1682"/>
                </a:lnTo>
                <a:lnTo>
                  <a:pt x="6257" y="6257"/>
                </a:lnTo>
                <a:lnTo>
                  <a:pt x="1682" y="13019"/>
                </a:lnTo>
                <a:lnTo>
                  <a:pt x="0" y="21259"/>
                </a:lnTo>
                <a:lnTo>
                  <a:pt x="0" y="483704"/>
                </a:lnTo>
                <a:lnTo>
                  <a:pt x="1682" y="491952"/>
                </a:lnTo>
                <a:lnTo>
                  <a:pt x="6257" y="498717"/>
                </a:lnTo>
                <a:lnTo>
                  <a:pt x="13020" y="503294"/>
                </a:lnTo>
                <a:lnTo>
                  <a:pt x="21264" y="504977"/>
                </a:lnTo>
                <a:lnTo>
                  <a:pt x="2601455" y="504977"/>
                </a:lnTo>
                <a:lnTo>
                  <a:pt x="2609702" y="503294"/>
                </a:lnTo>
                <a:lnTo>
                  <a:pt x="2616468" y="498717"/>
                </a:lnTo>
                <a:lnTo>
                  <a:pt x="2621045" y="491952"/>
                </a:lnTo>
                <a:lnTo>
                  <a:pt x="2622727" y="483704"/>
                </a:lnTo>
                <a:lnTo>
                  <a:pt x="2622727" y="21259"/>
                </a:lnTo>
                <a:lnTo>
                  <a:pt x="2621045" y="13019"/>
                </a:lnTo>
                <a:lnTo>
                  <a:pt x="2616468" y="6257"/>
                </a:lnTo>
                <a:lnTo>
                  <a:pt x="2609702" y="1682"/>
                </a:lnTo>
                <a:lnTo>
                  <a:pt x="2601455" y="0"/>
                </a:lnTo>
                <a:close/>
              </a:path>
            </a:pathLst>
          </a:custGeom>
          <a:solidFill>
            <a:srgbClr val="3E46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625176" y="4165219"/>
            <a:ext cx="73025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D5E4EE"/>
                </a:solidFill>
                <a:latin typeface="Arial"/>
                <a:cs typeface="Arial"/>
              </a:rPr>
              <a:t>Wordwall</a:t>
            </a:r>
            <a:endParaRPr sz="1350">
              <a:latin typeface="Arial"/>
              <a:cs typeface="Arial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3260597" y="4039793"/>
            <a:ext cx="2623185" cy="505459"/>
          </a:xfrm>
          <a:custGeom>
            <a:avLst/>
            <a:gdLst/>
            <a:ahLst/>
            <a:cxnLst/>
            <a:rect l="l" t="t" r="r" b="b"/>
            <a:pathLst>
              <a:path w="2623185" h="505460">
                <a:moveTo>
                  <a:pt x="2601455" y="0"/>
                </a:moveTo>
                <a:lnTo>
                  <a:pt x="21264" y="0"/>
                </a:lnTo>
                <a:lnTo>
                  <a:pt x="13020" y="1682"/>
                </a:lnTo>
                <a:lnTo>
                  <a:pt x="6257" y="6257"/>
                </a:lnTo>
                <a:lnTo>
                  <a:pt x="1682" y="13019"/>
                </a:lnTo>
                <a:lnTo>
                  <a:pt x="0" y="21259"/>
                </a:lnTo>
                <a:lnTo>
                  <a:pt x="0" y="483704"/>
                </a:lnTo>
                <a:lnTo>
                  <a:pt x="1682" y="491952"/>
                </a:lnTo>
                <a:lnTo>
                  <a:pt x="6257" y="498717"/>
                </a:lnTo>
                <a:lnTo>
                  <a:pt x="13020" y="503294"/>
                </a:lnTo>
                <a:lnTo>
                  <a:pt x="21264" y="504977"/>
                </a:lnTo>
                <a:lnTo>
                  <a:pt x="2601455" y="504977"/>
                </a:lnTo>
                <a:lnTo>
                  <a:pt x="2609702" y="503294"/>
                </a:lnTo>
                <a:lnTo>
                  <a:pt x="2616468" y="498717"/>
                </a:lnTo>
                <a:lnTo>
                  <a:pt x="2621045" y="491952"/>
                </a:lnTo>
                <a:lnTo>
                  <a:pt x="2622727" y="483704"/>
                </a:lnTo>
                <a:lnTo>
                  <a:pt x="2622727" y="21259"/>
                </a:lnTo>
                <a:lnTo>
                  <a:pt x="2621045" y="13019"/>
                </a:lnTo>
                <a:lnTo>
                  <a:pt x="2616468" y="6257"/>
                </a:lnTo>
                <a:lnTo>
                  <a:pt x="2609702" y="1682"/>
                </a:lnTo>
                <a:lnTo>
                  <a:pt x="2601455" y="0"/>
                </a:lnTo>
                <a:close/>
              </a:path>
            </a:pathLst>
          </a:custGeom>
          <a:solidFill>
            <a:srgbClr val="3E46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3389655" y="4165219"/>
            <a:ext cx="61595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D5E4EE"/>
                </a:solidFill>
                <a:latin typeface="Arial"/>
                <a:cs typeface="Arial"/>
              </a:rPr>
              <a:t>Kahoot!</a:t>
            </a:r>
            <a:endParaRPr sz="1350">
              <a:latin typeface="Arial"/>
              <a:cs typeface="Arial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6025083" y="4039793"/>
            <a:ext cx="2623185" cy="505459"/>
          </a:xfrm>
          <a:custGeom>
            <a:avLst/>
            <a:gdLst/>
            <a:ahLst/>
            <a:cxnLst/>
            <a:rect l="l" t="t" r="r" b="b"/>
            <a:pathLst>
              <a:path w="2623184" h="505460">
                <a:moveTo>
                  <a:pt x="2601455" y="0"/>
                </a:moveTo>
                <a:lnTo>
                  <a:pt x="21264" y="0"/>
                </a:lnTo>
                <a:lnTo>
                  <a:pt x="13020" y="1682"/>
                </a:lnTo>
                <a:lnTo>
                  <a:pt x="6257" y="6257"/>
                </a:lnTo>
                <a:lnTo>
                  <a:pt x="1682" y="13019"/>
                </a:lnTo>
                <a:lnTo>
                  <a:pt x="0" y="21259"/>
                </a:lnTo>
                <a:lnTo>
                  <a:pt x="0" y="483704"/>
                </a:lnTo>
                <a:lnTo>
                  <a:pt x="1682" y="491952"/>
                </a:lnTo>
                <a:lnTo>
                  <a:pt x="6257" y="498717"/>
                </a:lnTo>
                <a:lnTo>
                  <a:pt x="13020" y="503294"/>
                </a:lnTo>
                <a:lnTo>
                  <a:pt x="21264" y="504977"/>
                </a:lnTo>
                <a:lnTo>
                  <a:pt x="2601455" y="504977"/>
                </a:lnTo>
                <a:lnTo>
                  <a:pt x="2609702" y="503294"/>
                </a:lnTo>
                <a:lnTo>
                  <a:pt x="2616468" y="498717"/>
                </a:lnTo>
                <a:lnTo>
                  <a:pt x="2621045" y="491952"/>
                </a:lnTo>
                <a:lnTo>
                  <a:pt x="2622727" y="483704"/>
                </a:lnTo>
                <a:lnTo>
                  <a:pt x="2622727" y="21259"/>
                </a:lnTo>
                <a:lnTo>
                  <a:pt x="2621045" y="13019"/>
                </a:lnTo>
                <a:lnTo>
                  <a:pt x="2616468" y="6257"/>
                </a:lnTo>
                <a:lnTo>
                  <a:pt x="2609702" y="1682"/>
                </a:lnTo>
                <a:lnTo>
                  <a:pt x="2601455" y="0"/>
                </a:lnTo>
                <a:close/>
              </a:path>
            </a:pathLst>
          </a:custGeom>
          <a:solidFill>
            <a:srgbClr val="3E46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6154140" y="4165219"/>
            <a:ext cx="102616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D5E4EE"/>
                </a:solidFill>
                <a:latin typeface="Arial"/>
                <a:cs typeface="Arial"/>
              </a:rPr>
              <a:t>Google</a:t>
            </a:r>
            <a:r>
              <a:rPr dirty="0" sz="1350" spc="-30">
                <a:solidFill>
                  <a:srgbClr val="D5E4EE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D5E4EE"/>
                </a:solidFill>
                <a:latin typeface="Arial"/>
                <a:cs typeface="Arial"/>
              </a:rPr>
              <a:t>Form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2026-06-10T03:17:34Z</dcterms:created>
  <dcterms:modified xsi:type="dcterms:W3CDTF">2026-06-10T03:17:34Z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2026-06-10T00:00:00Z</vt:filetime>
  </property>
  <property fmtid="{D5CDD505-2E9C-101B-9397-08002B2CF9AE}" pid="3" name="LastSaved">
    <vt:filetime>2026-06-10T00:00:00Z</vt:filetime>
  </property>
  <property fmtid="{D5CDD505-2E9C-101B-9397-08002B2CF9AE}" pid="4" name="Producer">
    <vt:lpwstr>3-Heights(TM) PDF Security Shell 4.8.25.2 (http://www.pdf-tools.com)</vt:lpwstr>
  </property>
</Properties>
</file>