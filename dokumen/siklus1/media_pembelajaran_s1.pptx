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6060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1431" y="328164"/>
            <a:ext cx="8037860" cy="873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940" y="1268679"/>
            <a:ext cx="4542790" cy="2760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9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5715000" cy="5143500"/>
            </a:xfrm>
            <a:custGeom>
              <a:avLst/>
              <a:gdLst/>
              <a:ahLst/>
              <a:cxnLst/>
              <a:rect l="l" t="t" r="r" b="b"/>
              <a:pathLst>
                <a:path w="5715000" h="5143500">
                  <a:moveTo>
                    <a:pt x="0" y="5143500"/>
                  </a:moveTo>
                  <a:lnTo>
                    <a:pt x="5715000" y="51435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06060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0"/>
              <a:ext cx="34290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724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Bergerak</a:t>
            </a:r>
            <a:r>
              <a:rPr dirty="0" sz="2700" spc="-5"/>
              <a:t> </a:t>
            </a:r>
            <a:r>
              <a:rPr dirty="0" sz="2700"/>
              <a:t>Aktif</a:t>
            </a:r>
            <a:r>
              <a:rPr dirty="0" sz="2700" spc="-5"/>
              <a:t> </a:t>
            </a:r>
            <a:r>
              <a:rPr dirty="0" sz="2700"/>
              <a:t>&amp; </a:t>
            </a:r>
            <a:r>
              <a:rPr dirty="0" sz="2700" spc="-10"/>
              <a:t>Lentur</a:t>
            </a:r>
            <a:endParaRPr sz="2700"/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105"/>
              </a:spcBef>
              <a:tabLst>
                <a:tab pos="1291590" algn="l"/>
                <a:tab pos="1683385" algn="l"/>
                <a:tab pos="2440940" algn="l"/>
              </a:tabLst>
            </a:pPr>
            <a:r>
              <a:rPr dirty="0" spc="-10"/>
              <a:t>Menguasai</a:t>
            </a:r>
            <a:r>
              <a:rPr dirty="0"/>
              <a:t>	</a:t>
            </a:r>
            <a:r>
              <a:rPr dirty="0" spc="-10"/>
              <a:t>Instrumen Latihan</a:t>
            </a:r>
            <a:r>
              <a:rPr dirty="0"/>
              <a:t>	</a:t>
            </a:r>
            <a:r>
              <a:rPr dirty="0" spc="-10"/>
              <a:t>Kelentukan untuk</a:t>
            </a:r>
            <a:r>
              <a:rPr dirty="0"/>
              <a:t>	</a:t>
            </a:r>
            <a:r>
              <a:rPr dirty="0" spc="-10"/>
              <a:t>Kebugaran Jasmani</a:t>
            </a: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050">
                <a:solidFill>
                  <a:srgbClr val="DFD5DE"/>
                </a:solidFill>
              </a:rPr>
              <a:t>Modul</a:t>
            </a:r>
            <a:r>
              <a:rPr dirty="0" sz="1050" spc="-30">
                <a:solidFill>
                  <a:srgbClr val="DFD5DE"/>
                </a:solidFill>
              </a:rPr>
              <a:t> </a:t>
            </a:r>
            <a:r>
              <a:rPr dirty="0" sz="1050" spc="-10">
                <a:solidFill>
                  <a:srgbClr val="DFD5DE"/>
                </a:solidFill>
              </a:rPr>
              <a:t>Rencana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 spc="-10">
                <a:solidFill>
                  <a:srgbClr val="DFD5DE"/>
                </a:solidFill>
              </a:rPr>
              <a:t>Pembelajaran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Mendalam</a:t>
            </a:r>
            <a:r>
              <a:rPr dirty="0" sz="1050" spc="-15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(RPM)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—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Kelas</a:t>
            </a:r>
            <a:r>
              <a:rPr dirty="0" sz="1050" spc="-15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VIII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/</a:t>
            </a:r>
            <a:r>
              <a:rPr dirty="0" sz="1050" spc="-20">
                <a:solidFill>
                  <a:srgbClr val="DFD5DE"/>
                </a:solidFill>
              </a:rPr>
              <a:t> </a:t>
            </a:r>
            <a:r>
              <a:rPr dirty="0" sz="1050">
                <a:solidFill>
                  <a:srgbClr val="DFD5DE"/>
                </a:solidFill>
              </a:rPr>
              <a:t>Fase</a:t>
            </a:r>
            <a:r>
              <a:rPr dirty="0" sz="1050" spc="-15">
                <a:solidFill>
                  <a:srgbClr val="DFD5DE"/>
                </a:solidFill>
              </a:rPr>
              <a:t> </a:t>
            </a:r>
            <a:r>
              <a:rPr dirty="0" sz="1050" spc="-50">
                <a:solidFill>
                  <a:srgbClr val="DFD5DE"/>
                </a:solidFill>
              </a:rPr>
              <a:t>D</a:t>
            </a:r>
            <a:endParaRPr sz="1050"/>
          </a:p>
        </p:txBody>
      </p:sp>
      <p:sp>
        <p:nvSpPr>
          <p:cNvPr id="7" name="object 7" descr=""/>
          <p:cNvSpPr/>
          <p:nvPr/>
        </p:nvSpPr>
        <p:spPr>
          <a:xfrm>
            <a:off x="480640" y="4225531"/>
            <a:ext cx="1787525" cy="255270"/>
          </a:xfrm>
          <a:custGeom>
            <a:avLst/>
            <a:gdLst/>
            <a:ahLst/>
            <a:cxnLst/>
            <a:rect l="l" t="t" r="r" b="b"/>
            <a:pathLst>
              <a:path w="1787525" h="255270">
                <a:moveTo>
                  <a:pt x="1779905" y="0"/>
                </a:moveTo>
                <a:lnTo>
                  <a:pt x="7439" y="0"/>
                </a:lnTo>
                <a:lnTo>
                  <a:pt x="0" y="7442"/>
                </a:lnTo>
                <a:lnTo>
                  <a:pt x="0" y="16484"/>
                </a:lnTo>
                <a:lnTo>
                  <a:pt x="0" y="247802"/>
                </a:lnTo>
                <a:lnTo>
                  <a:pt x="7439" y="255244"/>
                </a:lnTo>
                <a:lnTo>
                  <a:pt x="1779905" y="255244"/>
                </a:lnTo>
                <a:lnTo>
                  <a:pt x="1787347" y="247802"/>
                </a:lnTo>
                <a:lnTo>
                  <a:pt x="1787347" y="7442"/>
                </a:lnTo>
                <a:lnTo>
                  <a:pt x="1779905" y="0"/>
                </a:lnTo>
                <a:close/>
              </a:path>
            </a:pathLst>
          </a:custGeom>
          <a:solidFill>
            <a:srgbClr val="001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0316" y="4251693"/>
            <a:ext cx="176339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OLEH:</a:t>
            </a:r>
            <a:r>
              <a:rPr dirty="0" sz="8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ARIESTA</a:t>
            </a:r>
            <a:r>
              <a:rPr dirty="0" sz="8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VANDERA,</a:t>
            </a:r>
            <a:r>
              <a:rPr dirty="0" sz="8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S.</a:t>
            </a:r>
            <a:r>
              <a:rPr dirty="0" sz="8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DFD5DE"/>
                </a:solidFill>
                <a:latin typeface="Arial"/>
                <a:cs typeface="Arial"/>
              </a:rPr>
              <a:t>PD.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5715000" cy="5143500"/>
            </a:xfrm>
            <a:custGeom>
              <a:avLst/>
              <a:gdLst/>
              <a:ahLst/>
              <a:cxnLst/>
              <a:rect l="l" t="t" r="r" b="b"/>
              <a:pathLst>
                <a:path w="5715000" h="5143500">
                  <a:moveTo>
                    <a:pt x="0" y="5143500"/>
                  </a:moveTo>
                  <a:lnTo>
                    <a:pt x="5715000" y="51435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06060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0"/>
              <a:ext cx="34290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19" y="847650"/>
            <a:ext cx="4664710" cy="880744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dirty="0"/>
              <a:t>Mengapa</a:t>
            </a:r>
            <a:r>
              <a:rPr dirty="0" spc="-25"/>
              <a:t> </a:t>
            </a:r>
            <a:r>
              <a:rPr dirty="0"/>
              <a:t>Fisik</a:t>
            </a:r>
            <a:r>
              <a:rPr dirty="0" spc="-20"/>
              <a:t> </a:t>
            </a:r>
            <a:r>
              <a:rPr dirty="0"/>
              <a:t>Tubuh</a:t>
            </a:r>
            <a:r>
              <a:rPr dirty="0" spc="-25"/>
              <a:t> </a:t>
            </a:r>
            <a:r>
              <a:rPr dirty="0"/>
              <a:t>di</a:t>
            </a:r>
            <a:r>
              <a:rPr dirty="0" spc="-20"/>
              <a:t> Desa </a:t>
            </a:r>
            <a:r>
              <a:rPr dirty="0"/>
              <a:t>dan</a:t>
            </a:r>
            <a:r>
              <a:rPr dirty="0" spc="-20"/>
              <a:t> </a:t>
            </a:r>
            <a:r>
              <a:rPr dirty="0"/>
              <a:t>Kota</a:t>
            </a:r>
            <a:r>
              <a:rPr dirty="0" spc="-15"/>
              <a:t> </a:t>
            </a:r>
            <a:r>
              <a:rPr dirty="0" spc="-10"/>
              <a:t>Berbeda?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496119" y="1966315"/>
            <a:ext cx="4723130" cy="1243330"/>
            <a:chOff x="496119" y="1966315"/>
            <a:chExt cx="4723130" cy="1243330"/>
          </a:xfrm>
        </p:grpSpPr>
        <p:sp>
          <p:nvSpPr>
            <p:cNvPr id="7" name="object 7" descr=""/>
            <p:cNvSpPr/>
            <p:nvPr/>
          </p:nvSpPr>
          <p:spPr>
            <a:xfrm>
              <a:off x="496119" y="1966315"/>
              <a:ext cx="4723130" cy="1243330"/>
            </a:xfrm>
            <a:custGeom>
              <a:avLst/>
              <a:gdLst/>
              <a:ahLst/>
              <a:cxnLst/>
              <a:rect l="l" t="t" r="r" b="b"/>
              <a:pathLst>
                <a:path w="4723130" h="1243330">
                  <a:moveTo>
                    <a:pt x="4701501" y="0"/>
                  </a:moveTo>
                  <a:lnTo>
                    <a:pt x="21262" y="0"/>
                  </a:lnTo>
                  <a:lnTo>
                    <a:pt x="13019" y="1682"/>
                  </a:lnTo>
                  <a:lnTo>
                    <a:pt x="6257" y="6257"/>
                  </a:lnTo>
                  <a:lnTo>
                    <a:pt x="1681" y="13019"/>
                  </a:lnTo>
                  <a:lnTo>
                    <a:pt x="0" y="21259"/>
                  </a:lnTo>
                  <a:lnTo>
                    <a:pt x="0" y="1221447"/>
                  </a:lnTo>
                  <a:lnTo>
                    <a:pt x="1681" y="1229695"/>
                  </a:lnTo>
                  <a:lnTo>
                    <a:pt x="6257" y="1236460"/>
                  </a:lnTo>
                  <a:lnTo>
                    <a:pt x="13019" y="1241037"/>
                  </a:lnTo>
                  <a:lnTo>
                    <a:pt x="21262" y="1242720"/>
                  </a:lnTo>
                  <a:lnTo>
                    <a:pt x="4701501" y="1242720"/>
                  </a:lnTo>
                  <a:lnTo>
                    <a:pt x="4709742" y="1241037"/>
                  </a:lnTo>
                  <a:lnTo>
                    <a:pt x="4716503" y="1236460"/>
                  </a:lnTo>
                  <a:lnTo>
                    <a:pt x="4721079" y="1229695"/>
                  </a:lnTo>
                  <a:lnTo>
                    <a:pt x="4722761" y="1221447"/>
                  </a:lnTo>
                  <a:lnTo>
                    <a:pt x="4722761" y="21259"/>
                  </a:lnTo>
                  <a:lnTo>
                    <a:pt x="4721079" y="13019"/>
                  </a:lnTo>
                  <a:lnTo>
                    <a:pt x="4716503" y="6257"/>
                  </a:lnTo>
                  <a:lnTo>
                    <a:pt x="4709742" y="1682"/>
                  </a:lnTo>
                  <a:lnTo>
                    <a:pt x="470150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876" y="2167089"/>
              <a:ext cx="177180" cy="14175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944112" y="2051424"/>
            <a:ext cx="4140200" cy="708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25"/>
              </a:spcBef>
            </a:pPr>
            <a:r>
              <a:rPr dirty="0" sz="1100" spc="285">
                <a:latin typeface="Segoe UI Symbol"/>
                <a:cs typeface="Segoe UI Symbol"/>
              </a:rPr>
              <a:t>💭</a:t>
            </a:r>
            <a:r>
              <a:rPr dirty="0" sz="1100" spc="-25">
                <a:latin typeface="Segoe UI Symbol"/>
                <a:cs typeface="Segoe UI Symbo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Pertanyaan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Pemantik: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Mengapa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lansia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desa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sering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terlihat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lebih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kuat,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lincah,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mudah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membungkuk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dibandingkan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lansia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kota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besar?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Apa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rahasia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kebugaran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fisik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mereka?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3419" y="3297516"/>
            <a:ext cx="4450715" cy="917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Ajak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siswa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berpikir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kritis: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aktivitas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fisik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harian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seperti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berjalan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kaki,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berkebun,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membawa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beban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melatih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kelentukan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secara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alami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tanpa disadari.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Gaya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hidup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sedenter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di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kota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membuat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sendi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otot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jarang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bergerak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optimal.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Apa</a:t>
            </a:r>
            <a:r>
              <a:rPr dirty="0" sz="2200" spc="-85"/>
              <a:t> </a:t>
            </a:r>
            <a:r>
              <a:rPr dirty="0" sz="2200"/>
              <a:t>Itu</a:t>
            </a:r>
            <a:r>
              <a:rPr dirty="0" sz="2200" spc="-80"/>
              <a:t> </a:t>
            </a:r>
            <a:r>
              <a:rPr dirty="0" sz="2200"/>
              <a:t>Kebugaran</a:t>
            </a:r>
            <a:r>
              <a:rPr dirty="0" sz="2200" spc="-80"/>
              <a:t> </a:t>
            </a:r>
            <a:r>
              <a:rPr dirty="0" sz="2200"/>
              <a:t>dan</a:t>
            </a:r>
            <a:r>
              <a:rPr dirty="0" sz="2200" spc="-80"/>
              <a:t> </a:t>
            </a:r>
            <a:r>
              <a:rPr dirty="0" sz="2200"/>
              <a:t>Mengapa</a:t>
            </a:r>
            <a:r>
              <a:rPr dirty="0" sz="2200" spc="-80"/>
              <a:t> </a:t>
            </a:r>
            <a:r>
              <a:rPr dirty="0" sz="2200"/>
              <a:t>Kelentukan</a:t>
            </a:r>
            <a:r>
              <a:rPr dirty="0" sz="2200" spc="-80"/>
              <a:t> </a:t>
            </a:r>
            <a:r>
              <a:rPr dirty="0" sz="2200" spc="-10"/>
              <a:t>Penting?</a:t>
            </a:r>
            <a:endParaRPr sz="2200"/>
          </a:p>
        </p:txBody>
      </p:sp>
      <p:sp>
        <p:nvSpPr>
          <p:cNvPr id="3" name="object 3" descr=""/>
          <p:cNvSpPr/>
          <p:nvPr/>
        </p:nvSpPr>
        <p:spPr>
          <a:xfrm>
            <a:off x="674489" y="2815970"/>
            <a:ext cx="3759835" cy="8890"/>
          </a:xfrm>
          <a:custGeom>
            <a:avLst/>
            <a:gdLst/>
            <a:ahLst/>
            <a:cxnLst/>
            <a:rect l="l" t="t" r="r" b="b"/>
            <a:pathLst>
              <a:path w="3759835" h="8889">
                <a:moveTo>
                  <a:pt x="3759619" y="0"/>
                </a:moveTo>
                <a:lnTo>
                  <a:pt x="0" y="0"/>
                </a:lnTo>
                <a:lnTo>
                  <a:pt x="0" y="8407"/>
                </a:lnTo>
                <a:lnTo>
                  <a:pt x="3759619" y="8407"/>
                </a:lnTo>
                <a:lnTo>
                  <a:pt x="3759619" y="0"/>
                </a:lnTo>
                <a:close/>
              </a:path>
            </a:pathLst>
          </a:custGeom>
          <a:solidFill>
            <a:srgbClr val="DFD5DE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61789" y="2079688"/>
            <a:ext cx="3774440" cy="143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96B8FF"/>
                </a:solidFill>
                <a:latin typeface="Arial"/>
                <a:cs typeface="Arial"/>
              </a:rPr>
              <a:t>Kebugaran</a:t>
            </a:r>
            <a:r>
              <a:rPr dirty="0" sz="110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96B8FF"/>
                </a:solidFill>
                <a:latin typeface="Arial"/>
                <a:cs typeface="Arial"/>
              </a:rPr>
              <a:t>Jasmani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580"/>
              </a:spcBef>
            </a:pP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Kemampuan</a:t>
            </a:r>
            <a:r>
              <a:rPr dirty="0" sz="8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tubuh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menjalankan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aktivitas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sehari-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hari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tanpa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kelelahan</a:t>
            </a:r>
            <a:r>
              <a:rPr dirty="0" sz="8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berlebih,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dengan</a:t>
            </a:r>
            <a:r>
              <a:rPr dirty="0" sz="8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energi</a:t>
            </a:r>
            <a:r>
              <a:rPr dirty="0" sz="8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cadangan</a:t>
            </a:r>
            <a:r>
              <a:rPr dirty="0" sz="8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untuk</a:t>
            </a:r>
            <a:r>
              <a:rPr dirty="0" sz="8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aktivitas</a:t>
            </a:r>
            <a:r>
              <a:rPr dirty="0" sz="8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lain.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96B8FF"/>
                </a:solidFill>
                <a:latin typeface="Arial"/>
                <a:cs typeface="Arial"/>
              </a:rPr>
              <a:t>Kelentukan</a:t>
            </a:r>
            <a:r>
              <a:rPr dirty="0" sz="110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96B8FF"/>
                </a:solidFill>
                <a:latin typeface="Arial"/>
                <a:cs typeface="Arial"/>
              </a:rPr>
              <a:t>(Flexibility)</a:t>
            </a:r>
            <a:endParaRPr sz="1100">
              <a:latin typeface="Arial"/>
              <a:cs typeface="Arial"/>
            </a:endParaRPr>
          </a:p>
          <a:p>
            <a:pPr marL="12700" marR="213995">
              <a:lnSpc>
                <a:spcPct val="120000"/>
              </a:lnSpc>
              <a:spcBef>
                <a:spcPts val="580"/>
              </a:spcBef>
            </a:pP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Kemampuan</a:t>
            </a:r>
            <a:r>
              <a:rPr dirty="0" sz="8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sendi</a:t>
            </a:r>
            <a:r>
              <a:rPr dirty="0" sz="8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bergerak</a:t>
            </a:r>
            <a:r>
              <a:rPr dirty="0" sz="8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melalui</a:t>
            </a:r>
            <a:r>
              <a:rPr dirty="0" sz="8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FD5DE"/>
                </a:solidFill>
                <a:latin typeface="Arial"/>
                <a:cs typeface="Arial"/>
              </a:rPr>
              <a:t>ruang</a:t>
            </a:r>
            <a:r>
              <a:rPr dirty="0" sz="850" spc="-3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FD5DE"/>
                </a:solidFill>
                <a:latin typeface="Arial"/>
                <a:cs typeface="Arial"/>
              </a:rPr>
              <a:t>gerak</a:t>
            </a:r>
            <a:r>
              <a:rPr dirty="0" sz="850" spc="-3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FD5DE"/>
                </a:solidFill>
                <a:latin typeface="Arial"/>
                <a:cs typeface="Arial"/>
              </a:rPr>
              <a:t>maksimal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.</a:t>
            </a:r>
            <a:r>
              <a:rPr dirty="0" sz="8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Dipengaruhi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elastisitas</a:t>
            </a:r>
            <a:r>
              <a:rPr dirty="0" sz="8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otot,</a:t>
            </a:r>
            <a:r>
              <a:rPr dirty="0" sz="8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tendon,</a:t>
            </a:r>
            <a:r>
              <a:rPr dirty="0" sz="8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8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FD5DE"/>
                </a:solidFill>
                <a:latin typeface="Arial"/>
                <a:cs typeface="Arial"/>
              </a:rPr>
              <a:t>ligamen.</a:t>
            </a:r>
            <a:endParaRPr sz="8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4506" y="935906"/>
            <a:ext cx="3759619" cy="3759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977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/>
              <a:t>Praktik</a:t>
            </a:r>
            <a:r>
              <a:rPr dirty="0" spc="-40"/>
              <a:t> </a:t>
            </a:r>
            <a:r>
              <a:rPr dirty="0"/>
              <a:t>Instrumen</a:t>
            </a:r>
            <a:r>
              <a:rPr dirty="0" spc="-35"/>
              <a:t> </a:t>
            </a:r>
            <a:r>
              <a:rPr dirty="0"/>
              <a:t>Latihan</a:t>
            </a:r>
            <a:r>
              <a:rPr dirty="0" spc="-35"/>
              <a:t> </a:t>
            </a:r>
            <a:r>
              <a:rPr dirty="0"/>
              <a:t>Kelentukan</a:t>
            </a:r>
            <a:r>
              <a:rPr dirty="0" spc="-35"/>
              <a:t> </a:t>
            </a:r>
            <a:r>
              <a:rPr dirty="0"/>
              <a:t>yang</a:t>
            </a:r>
            <a:r>
              <a:rPr dirty="0" spc="-35"/>
              <a:t> </a:t>
            </a:r>
            <a:r>
              <a:rPr dirty="0" spc="-10"/>
              <a:t>Benar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419" y="1797367"/>
            <a:ext cx="7761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Lakukan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dengan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FD5DE"/>
                </a:solidFill>
                <a:latin typeface="Arial"/>
                <a:cs typeface="Arial"/>
              </a:rPr>
              <a:t>sadar</a:t>
            </a:r>
            <a:r>
              <a:rPr dirty="0" sz="1100" spc="-3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FD5DE"/>
                </a:solidFill>
                <a:latin typeface="Arial"/>
                <a:cs typeface="Arial"/>
              </a:rPr>
              <a:t>penuh</a:t>
            </a:r>
            <a:r>
              <a:rPr dirty="0" sz="1100" spc="-4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FD5DE"/>
                </a:solidFill>
                <a:latin typeface="Arial"/>
                <a:cs typeface="Arial"/>
              </a:rPr>
              <a:t>(mindful)</a:t>
            </a:r>
            <a:r>
              <a:rPr dirty="0" sz="1100" spc="-3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—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rasakan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setiap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regangan,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hitung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1×8,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jangan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paksa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tubuh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melampaui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batas.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2426119"/>
            <a:ext cx="1104900" cy="68282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3419" y="3269792"/>
            <a:ext cx="1695450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DFD5DE"/>
                </a:solidFill>
                <a:latin typeface="Arial"/>
                <a:cs typeface="Arial"/>
              </a:rPr>
              <a:t>Mencium </a:t>
            </a:r>
            <a:r>
              <a:rPr dirty="0" sz="1350" spc="-10">
                <a:solidFill>
                  <a:srgbClr val="DFD5DE"/>
                </a:solidFill>
                <a:latin typeface="Arial"/>
                <a:cs typeface="Arial"/>
              </a:rPr>
              <a:t>Lutut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Duduk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tegak,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bungkukkan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badan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perlahan.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Rasakan regangan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di</a:t>
            </a:r>
            <a:r>
              <a:rPr dirty="0" sz="110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punggung</a:t>
            </a:r>
            <a:r>
              <a:rPr dirty="0" sz="110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dan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paha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belakang.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8303" y="2426119"/>
            <a:ext cx="1104899" cy="6828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65603" y="3269792"/>
            <a:ext cx="184912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DFD5DE"/>
                </a:solidFill>
                <a:latin typeface="Arial"/>
                <a:cs typeface="Arial"/>
              </a:rPr>
              <a:t>Peregangan</a:t>
            </a:r>
            <a:r>
              <a:rPr dirty="0" sz="13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FD5DE"/>
                </a:solidFill>
                <a:latin typeface="Arial"/>
                <a:cs typeface="Arial"/>
              </a:rPr>
              <a:t>Leher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Miringkan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kepala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ke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samping perlahan.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Tahan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8</a:t>
            </a:r>
            <a:r>
              <a:rPr dirty="0" sz="110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hitungan,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rasakan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otot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leher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meregang.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0556" y="2426119"/>
            <a:ext cx="1104900" cy="68282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47856" y="3269792"/>
            <a:ext cx="182626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DFD5DE"/>
                </a:solidFill>
                <a:latin typeface="Arial"/>
                <a:cs typeface="Arial"/>
              </a:rPr>
              <a:t>Sendi</a:t>
            </a:r>
            <a:r>
              <a:rPr dirty="0" sz="13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DFD5DE"/>
                </a:solidFill>
                <a:latin typeface="Arial"/>
                <a:cs typeface="Arial"/>
              </a:rPr>
              <a:t>Bahu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Tarik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lengan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melintang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dada.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Bahu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terbuka,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dada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bidang,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postur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membaik.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42810" y="2426119"/>
            <a:ext cx="1104900" cy="6828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730110" y="3269792"/>
            <a:ext cx="182626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DFD5DE"/>
                </a:solidFill>
                <a:latin typeface="Arial"/>
                <a:cs typeface="Arial"/>
              </a:rPr>
              <a:t>Otot</a:t>
            </a:r>
            <a:r>
              <a:rPr dirty="0" sz="135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FD5DE"/>
                </a:solidFill>
                <a:latin typeface="Arial"/>
                <a:cs typeface="Arial"/>
              </a:rPr>
              <a:t>Pinggang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Berdiri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tegak,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bungkukkan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ke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samping.</a:t>
            </a:r>
            <a:r>
              <a:rPr dirty="0" sz="110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Rasakan</a:t>
            </a:r>
            <a:r>
              <a:rPr dirty="0" sz="110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regangan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di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sisi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tubuh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pinggang.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Hubungan</a:t>
            </a:r>
            <a:r>
              <a:rPr dirty="0" sz="2400" spc="-90"/>
              <a:t> </a:t>
            </a:r>
            <a:r>
              <a:rPr dirty="0" sz="2400"/>
              <a:t>Anatomi</a:t>
            </a:r>
            <a:r>
              <a:rPr dirty="0" sz="2400" spc="-90"/>
              <a:t> </a:t>
            </a:r>
            <a:r>
              <a:rPr dirty="0" sz="2400"/>
              <a:t>Tubuh</a:t>
            </a:r>
            <a:r>
              <a:rPr dirty="0" sz="2400" spc="-85"/>
              <a:t> </a:t>
            </a:r>
            <a:r>
              <a:rPr dirty="0" sz="2400"/>
              <a:t>dengan</a:t>
            </a:r>
            <a:r>
              <a:rPr dirty="0" sz="2400" spc="-90"/>
              <a:t> </a:t>
            </a:r>
            <a:r>
              <a:rPr dirty="0" sz="2400"/>
              <a:t>Aktivitas</a:t>
            </a:r>
            <a:r>
              <a:rPr dirty="0" sz="2400" spc="-85"/>
              <a:t> </a:t>
            </a:r>
            <a:r>
              <a:rPr dirty="0" sz="2400" spc="-20"/>
              <a:t>Sehari-hari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31" y="1546542"/>
            <a:ext cx="5273281" cy="298817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014745" y="1414754"/>
            <a:ext cx="1702435" cy="242570"/>
          </a:xfrm>
          <a:custGeom>
            <a:avLst/>
            <a:gdLst/>
            <a:ahLst/>
            <a:cxnLst/>
            <a:rect l="l" t="t" r="r" b="b"/>
            <a:pathLst>
              <a:path w="1702434" h="242569">
                <a:moveTo>
                  <a:pt x="0" y="14884"/>
                </a:moveTo>
                <a:lnTo>
                  <a:pt x="0" y="6718"/>
                </a:lnTo>
                <a:lnTo>
                  <a:pt x="6719" y="0"/>
                </a:lnTo>
                <a:lnTo>
                  <a:pt x="14886" y="0"/>
                </a:lnTo>
                <a:lnTo>
                  <a:pt x="1687258" y="0"/>
                </a:lnTo>
                <a:lnTo>
                  <a:pt x="1695424" y="0"/>
                </a:lnTo>
                <a:lnTo>
                  <a:pt x="1702142" y="6718"/>
                </a:lnTo>
                <a:lnTo>
                  <a:pt x="1702142" y="14884"/>
                </a:lnTo>
                <a:lnTo>
                  <a:pt x="1702142" y="14884"/>
                </a:lnTo>
                <a:lnTo>
                  <a:pt x="1702142" y="227482"/>
                </a:lnTo>
                <a:lnTo>
                  <a:pt x="1702142" y="235648"/>
                </a:lnTo>
                <a:lnTo>
                  <a:pt x="1695424" y="242366"/>
                </a:lnTo>
                <a:lnTo>
                  <a:pt x="6719" y="242366"/>
                </a:lnTo>
                <a:lnTo>
                  <a:pt x="0" y="235648"/>
                </a:lnTo>
                <a:lnTo>
                  <a:pt x="0" y="227482"/>
                </a:lnTo>
                <a:lnTo>
                  <a:pt x="0" y="14884"/>
                </a:lnTo>
                <a:close/>
              </a:path>
            </a:pathLst>
          </a:custGeom>
          <a:ln w="4762">
            <a:solidFill>
              <a:srgbClr val="96B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081217" y="1442008"/>
            <a:ext cx="1595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195">
                <a:latin typeface="Segoe UI Symbol"/>
                <a:cs typeface="Segoe UI Symbol"/>
              </a:rPr>
              <a:t>🔬</a:t>
            </a:r>
            <a:r>
              <a:rPr dirty="0" sz="750" spc="-10"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96B8FF"/>
                </a:solidFill>
                <a:latin typeface="Arial"/>
                <a:cs typeface="Arial"/>
              </a:rPr>
              <a:t>LINTAS</a:t>
            </a:r>
            <a:r>
              <a:rPr dirty="0" sz="750" spc="-5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96B8FF"/>
                </a:solidFill>
                <a:latin typeface="Arial"/>
                <a:cs typeface="Arial"/>
              </a:rPr>
              <a:t>DISIPLIN: </a:t>
            </a:r>
            <a:r>
              <a:rPr dirty="0" sz="750">
                <a:solidFill>
                  <a:srgbClr val="96B8FF"/>
                </a:solidFill>
                <a:latin typeface="Arial"/>
                <a:cs typeface="Arial"/>
              </a:rPr>
              <a:t>IPA</a:t>
            </a:r>
            <a:r>
              <a:rPr dirty="0" sz="750" spc="-10">
                <a:solidFill>
                  <a:srgbClr val="96B8FF"/>
                </a:solidFill>
                <a:latin typeface="Arial"/>
                <a:cs typeface="Arial"/>
              </a:rPr>
              <a:t> ANATOMI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014745" y="3093834"/>
            <a:ext cx="2700020" cy="9525"/>
          </a:xfrm>
          <a:custGeom>
            <a:avLst/>
            <a:gdLst/>
            <a:ahLst/>
            <a:cxnLst/>
            <a:rect l="l" t="t" r="r" b="b"/>
            <a:pathLst>
              <a:path w="2700020" h="9525">
                <a:moveTo>
                  <a:pt x="2699816" y="0"/>
                </a:moveTo>
                <a:lnTo>
                  <a:pt x="0" y="0"/>
                </a:lnTo>
                <a:lnTo>
                  <a:pt x="0" y="9296"/>
                </a:lnTo>
                <a:lnTo>
                  <a:pt x="2699816" y="9296"/>
                </a:lnTo>
                <a:lnTo>
                  <a:pt x="2699816" y="0"/>
                </a:lnTo>
                <a:close/>
              </a:path>
            </a:pathLst>
          </a:custGeom>
          <a:solidFill>
            <a:srgbClr val="DFD5DE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002045" y="1684578"/>
            <a:ext cx="2700655" cy="1764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Struktur</a:t>
            </a:r>
            <a:r>
              <a:rPr dirty="0" sz="1200" spc="-1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Persendian</a:t>
            </a:r>
            <a:r>
              <a:rPr dirty="0" sz="1200" spc="-1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&amp;</a:t>
            </a:r>
            <a:r>
              <a:rPr dirty="0" sz="1200" spc="-1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Elastisitas</a:t>
            </a:r>
            <a:r>
              <a:rPr dirty="0" sz="1200" spc="-1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96B8FF"/>
                </a:solidFill>
                <a:latin typeface="Arial"/>
                <a:cs typeface="Arial"/>
              </a:rPr>
              <a:t>Otot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Persendian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adalah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titik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temu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dua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tulang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 yang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memungkinkan</a:t>
            </a:r>
            <a:r>
              <a:rPr dirty="0" sz="9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gerakan.</a:t>
            </a:r>
            <a:r>
              <a:rPr dirty="0" sz="9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Otot</a:t>
            </a:r>
            <a:r>
              <a:rPr dirty="0" sz="9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9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tendon</a:t>
            </a:r>
            <a:r>
              <a:rPr dirty="0" sz="9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yang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elastis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membuat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sendi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bergerak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bebas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tanpa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DFD5DE"/>
                </a:solidFill>
                <a:latin typeface="Arial"/>
                <a:cs typeface="Arial"/>
              </a:rPr>
              <a:t>rasa 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sakit.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Manfaat</a:t>
            </a:r>
            <a:r>
              <a:rPr dirty="0" sz="1200" spc="-20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Nyata</a:t>
            </a:r>
            <a:r>
              <a:rPr dirty="0" sz="1200" spc="-15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96B8FF"/>
                </a:solidFill>
                <a:latin typeface="Arial"/>
                <a:cs typeface="Arial"/>
              </a:rPr>
              <a:t>dalam</a:t>
            </a:r>
            <a:r>
              <a:rPr dirty="0" sz="1200" spc="-15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96B8FF"/>
                </a:solidFill>
                <a:latin typeface="Arial"/>
                <a:cs typeface="Arial"/>
              </a:rPr>
              <a:t>Kehidupan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02045" y="3905174"/>
            <a:ext cx="679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DFD5DE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02045" y="4267123"/>
            <a:ext cx="679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DFD5DE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02045" y="3507028"/>
            <a:ext cx="254762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5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Postur</a:t>
            </a:r>
            <a:r>
              <a:rPr dirty="0" sz="950" spc="-1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tegap</a:t>
            </a:r>
            <a:r>
              <a:rPr dirty="0" sz="950" spc="-1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saat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duduk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lama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belajar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DFD5DE"/>
                </a:solidFill>
                <a:latin typeface="Arial"/>
                <a:cs typeface="Arial"/>
              </a:rPr>
              <a:t>di 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kelas</a:t>
            </a:r>
            <a:endParaRPr sz="950">
              <a:latin typeface="Arial"/>
              <a:cs typeface="Arial"/>
            </a:endParaRPr>
          </a:p>
          <a:p>
            <a:pPr marL="355600" marR="78740">
              <a:lnSpc>
                <a:spcPct val="125000"/>
              </a:lnSpc>
            </a:pP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Refleks</a:t>
            </a:r>
            <a:r>
              <a:rPr dirty="0" sz="950" spc="-3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lincah</a:t>
            </a:r>
            <a:r>
              <a:rPr dirty="0" sz="950" spc="-2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saat</a:t>
            </a:r>
            <a:r>
              <a:rPr dirty="0" sz="9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mengambil</a:t>
            </a:r>
            <a:r>
              <a:rPr dirty="0" sz="9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barang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jatuh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di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lantai</a:t>
            </a:r>
            <a:endParaRPr sz="950">
              <a:latin typeface="Arial"/>
              <a:cs typeface="Arial"/>
            </a:endParaRPr>
          </a:p>
          <a:p>
            <a:pPr marL="355600" marR="339725">
              <a:lnSpc>
                <a:spcPct val="125000"/>
              </a:lnSpc>
            </a:pP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Tubuh</a:t>
            </a:r>
            <a:r>
              <a:rPr dirty="0" sz="950" spc="-1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FD5DE"/>
                </a:solidFill>
                <a:latin typeface="Arial"/>
                <a:cs typeface="Arial"/>
              </a:rPr>
              <a:t>rileks</a:t>
            </a:r>
            <a:r>
              <a:rPr dirty="0" sz="950" spc="-1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bebas</a:t>
            </a:r>
            <a:r>
              <a:rPr dirty="0" sz="950" spc="-1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FD5DE"/>
                </a:solidFill>
                <a:latin typeface="Arial"/>
                <a:cs typeface="Arial"/>
              </a:rPr>
              <a:t>dari</a:t>
            </a:r>
            <a:r>
              <a:rPr dirty="0" sz="950" spc="-10">
                <a:solidFill>
                  <a:srgbClr val="DFD5DE"/>
                </a:solidFill>
                <a:latin typeface="Arial"/>
                <a:cs typeface="Arial"/>
              </a:rPr>
              <a:t> nyeri punggung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3480435" marR="5080">
              <a:lnSpc>
                <a:spcPts val="3310"/>
              </a:lnSpc>
              <a:spcBef>
                <a:spcPts val="65"/>
              </a:spcBef>
            </a:pPr>
            <a:r>
              <a:rPr dirty="0" sz="2650"/>
              <a:t>Kelompok</a:t>
            </a:r>
            <a:r>
              <a:rPr dirty="0" sz="2650" spc="-75"/>
              <a:t> </a:t>
            </a:r>
            <a:r>
              <a:rPr dirty="0" sz="2650"/>
              <a:t>Kecil:</a:t>
            </a:r>
            <a:r>
              <a:rPr dirty="0" sz="2650" spc="-75"/>
              <a:t> </a:t>
            </a:r>
            <a:r>
              <a:rPr dirty="0" sz="2650"/>
              <a:t>Berbagi</a:t>
            </a:r>
            <a:r>
              <a:rPr dirty="0" sz="2650" spc="-70"/>
              <a:t> </a:t>
            </a:r>
            <a:r>
              <a:rPr dirty="0" sz="2650" spc="-20"/>
              <a:t>Rasa </a:t>
            </a:r>
            <a:r>
              <a:rPr dirty="0" sz="2650"/>
              <a:t>&amp;</a:t>
            </a:r>
            <a:r>
              <a:rPr dirty="0" sz="2650" spc="-60"/>
              <a:t> </a:t>
            </a:r>
            <a:r>
              <a:rPr dirty="0" sz="2650"/>
              <a:t>Evaluasi</a:t>
            </a:r>
            <a:r>
              <a:rPr dirty="0" sz="2650" spc="-55"/>
              <a:t> </a:t>
            </a:r>
            <a:r>
              <a:rPr dirty="0" sz="2650" spc="-10"/>
              <a:t>Gerakan</a:t>
            </a:r>
            <a:endParaRPr sz="26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1897" y="1410068"/>
            <a:ext cx="2320226" cy="18273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01897" y="1410068"/>
            <a:ext cx="2320290" cy="182753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50" spc="-50"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5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</a:pPr>
            <a:r>
              <a:rPr dirty="0" sz="1300">
                <a:solidFill>
                  <a:srgbClr val="DFD5DE"/>
                </a:solidFill>
                <a:latin typeface="Arial"/>
                <a:cs typeface="Arial"/>
              </a:rPr>
              <a:t>Analisis</a:t>
            </a:r>
            <a:r>
              <a:rPr dirty="0" sz="13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FD5DE"/>
                </a:solidFill>
                <a:latin typeface="Arial"/>
                <a:cs typeface="Arial"/>
              </a:rPr>
              <a:t>Mandiri</a:t>
            </a:r>
            <a:endParaRPr sz="1300">
              <a:latin typeface="Arial"/>
              <a:cs typeface="Arial"/>
            </a:endParaRPr>
          </a:p>
          <a:p>
            <a:pPr marL="153670" marR="217170">
              <a:lnSpc>
                <a:spcPct val="130000"/>
              </a:lnSpc>
              <a:spcBef>
                <a:spcPts val="335"/>
              </a:spcBef>
            </a:pP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Renungkan</a:t>
            </a:r>
            <a:r>
              <a:rPr dirty="0" sz="105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pengalaman</a:t>
            </a:r>
            <a:r>
              <a:rPr dirty="0" sz="105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fisikmu: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bagian</a:t>
            </a:r>
            <a:r>
              <a:rPr dirty="0" sz="10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otot</a:t>
            </a:r>
            <a:r>
              <a:rPr dirty="0" sz="10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mana</a:t>
            </a:r>
            <a:r>
              <a:rPr dirty="0" sz="10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yang</a:t>
            </a:r>
            <a:r>
              <a:rPr dirty="0" sz="10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terasa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paling</a:t>
            </a:r>
            <a:r>
              <a:rPr dirty="0" sz="1050" spc="-5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kaku</a:t>
            </a:r>
            <a:r>
              <a:rPr dirty="0" sz="1050" spc="-4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atau</a:t>
            </a:r>
            <a:r>
              <a:rPr dirty="0" sz="1050" spc="-4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tegang</a:t>
            </a:r>
            <a:r>
              <a:rPr dirty="0" sz="1050" spc="-4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DFD5DE"/>
                </a:solidFill>
                <a:latin typeface="Arial"/>
                <a:cs typeface="Arial"/>
              </a:rPr>
              <a:t>saat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diregangkan?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0863" y="1410068"/>
            <a:ext cx="2320226" cy="18273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350863" y="1410068"/>
            <a:ext cx="2320290" cy="182753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50" spc="-5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  <a:p>
            <a:pPr marL="153670" marR="342900">
              <a:lnSpc>
                <a:spcPct val="137900"/>
              </a:lnSpc>
              <a:spcBef>
                <a:spcPts val="1315"/>
              </a:spcBef>
            </a:pPr>
            <a:r>
              <a:rPr dirty="0" sz="1300">
                <a:solidFill>
                  <a:srgbClr val="DFD5DE"/>
                </a:solidFill>
                <a:latin typeface="Arial"/>
                <a:cs typeface="Arial"/>
              </a:rPr>
              <a:t>Diskusi</a:t>
            </a:r>
            <a:r>
              <a:rPr dirty="0" sz="13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FD5DE"/>
                </a:solidFill>
                <a:latin typeface="Arial"/>
                <a:cs typeface="Arial"/>
              </a:rPr>
              <a:t>Kelompok</a:t>
            </a:r>
            <a:r>
              <a:rPr dirty="0" sz="1300" spc="50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Bagikan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perasaanmu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kepada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anggota</a:t>
            </a:r>
            <a:r>
              <a:rPr dirty="0" sz="10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kelompok.</a:t>
            </a:r>
            <a:r>
              <a:rPr dirty="0" sz="10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Dengarkan</a:t>
            </a:r>
            <a:endParaRPr sz="1050">
              <a:latin typeface="Arial"/>
              <a:cs typeface="Arial"/>
            </a:endParaRPr>
          </a:p>
          <a:p>
            <a:pPr marL="153670" marR="208915">
              <a:lnSpc>
                <a:spcPct val="130000"/>
              </a:lnSpc>
            </a:pP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pengalaman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teman</a:t>
            </a:r>
            <a:r>
              <a:rPr dirty="0" sz="10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0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temukan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pola</a:t>
            </a:r>
            <a:r>
              <a:rPr dirty="0" sz="105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yang</a:t>
            </a:r>
            <a:r>
              <a:rPr dirty="0" sz="105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sama.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1897" y="3366122"/>
            <a:ext cx="4769192" cy="140508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901897" y="3366122"/>
            <a:ext cx="4769485" cy="140525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50" spc="-50">
                <a:latin typeface="Arial"/>
                <a:cs typeface="Arial"/>
              </a:rPr>
              <a:t>3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5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</a:pPr>
            <a:r>
              <a:rPr dirty="0" sz="1300">
                <a:solidFill>
                  <a:srgbClr val="DFD5DE"/>
                </a:solidFill>
                <a:latin typeface="Arial"/>
                <a:cs typeface="Arial"/>
              </a:rPr>
              <a:t>Saran</a:t>
            </a:r>
            <a:r>
              <a:rPr dirty="0" sz="1300" spc="-4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FD5DE"/>
                </a:solidFill>
                <a:latin typeface="Arial"/>
                <a:cs typeface="Arial"/>
              </a:rPr>
              <a:t>Perbaikan</a:t>
            </a:r>
            <a:endParaRPr sz="1300">
              <a:latin typeface="Arial"/>
              <a:cs typeface="Arial"/>
            </a:endParaRPr>
          </a:p>
          <a:p>
            <a:pPr marL="153670" marR="450215">
              <a:lnSpc>
                <a:spcPct val="130000"/>
              </a:lnSpc>
              <a:spcBef>
                <a:spcPts val="335"/>
              </a:spcBef>
            </a:pP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Berikan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masukan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konstruktif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tentang</a:t>
            </a:r>
            <a:r>
              <a:rPr dirty="0" sz="10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posisi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peregangan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yang</a:t>
            </a:r>
            <a:r>
              <a:rPr dirty="0" sz="105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benar</a:t>
            </a:r>
            <a:r>
              <a:rPr dirty="0" sz="105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DFD5DE"/>
                </a:solidFill>
                <a:latin typeface="Arial"/>
                <a:cs typeface="Arial"/>
              </a:rPr>
              <a:t>—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nyaman,</a:t>
            </a:r>
            <a:r>
              <a:rPr dirty="0" sz="105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aman,</a:t>
            </a:r>
            <a:r>
              <a:rPr dirty="0" sz="1050" spc="-5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05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tanpa</a:t>
            </a:r>
            <a:r>
              <a:rPr dirty="0" sz="1050" spc="-5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FD5DE"/>
                </a:solidFill>
                <a:latin typeface="Arial"/>
                <a:cs typeface="Arial"/>
              </a:rPr>
              <a:t>tekanan</a:t>
            </a:r>
            <a:r>
              <a:rPr dirty="0" sz="105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FD5DE"/>
                </a:solidFill>
                <a:latin typeface="Arial"/>
                <a:cs typeface="Arial"/>
              </a:rPr>
              <a:t>berlebih.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904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/>
              <a:t>Uji</a:t>
            </a:r>
            <a:r>
              <a:rPr dirty="0" spc="-40"/>
              <a:t> </a:t>
            </a:r>
            <a:r>
              <a:rPr dirty="0"/>
              <a:t>Kebugaranmu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Komitmen</a:t>
            </a:r>
            <a:r>
              <a:rPr dirty="0" spc="-35"/>
              <a:t> </a:t>
            </a:r>
            <a:r>
              <a:rPr dirty="0"/>
              <a:t>Hidup</a:t>
            </a:r>
            <a:r>
              <a:rPr dirty="0" spc="-40"/>
              <a:t> </a:t>
            </a:r>
            <a:r>
              <a:rPr dirty="0" spc="-10"/>
              <a:t>Sehat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94021" y="1194047"/>
            <a:ext cx="4107179" cy="3411220"/>
            <a:chOff x="394021" y="1194047"/>
            <a:chExt cx="4107179" cy="3411220"/>
          </a:xfrm>
        </p:grpSpPr>
        <p:sp>
          <p:nvSpPr>
            <p:cNvPr id="4" name="object 4" descr=""/>
            <p:cNvSpPr/>
            <p:nvPr/>
          </p:nvSpPr>
          <p:spPr>
            <a:xfrm>
              <a:off x="394021" y="1194047"/>
              <a:ext cx="4107179" cy="3411220"/>
            </a:xfrm>
            <a:custGeom>
              <a:avLst/>
              <a:gdLst/>
              <a:ahLst/>
              <a:cxnLst/>
              <a:rect l="l" t="t" r="r" b="b"/>
              <a:pathLst>
                <a:path w="4107179" h="3411220">
                  <a:moveTo>
                    <a:pt x="4085882" y="0"/>
                  </a:moveTo>
                  <a:lnTo>
                    <a:pt x="21249" y="0"/>
                  </a:lnTo>
                  <a:lnTo>
                    <a:pt x="13011" y="1680"/>
                  </a:lnTo>
                  <a:lnTo>
                    <a:pt x="6253" y="6251"/>
                  </a:lnTo>
                  <a:lnTo>
                    <a:pt x="1680" y="13008"/>
                  </a:lnTo>
                  <a:lnTo>
                    <a:pt x="0" y="21247"/>
                  </a:lnTo>
                  <a:lnTo>
                    <a:pt x="0" y="3389668"/>
                  </a:lnTo>
                  <a:lnTo>
                    <a:pt x="1680" y="3397906"/>
                  </a:lnTo>
                  <a:lnTo>
                    <a:pt x="6253" y="3404663"/>
                  </a:lnTo>
                  <a:lnTo>
                    <a:pt x="13011" y="3409234"/>
                  </a:lnTo>
                  <a:lnTo>
                    <a:pt x="21249" y="3410915"/>
                  </a:lnTo>
                  <a:lnTo>
                    <a:pt x="4085882" y="3410915"/>
                  </a:lnTo>
                  <a:lnTo>
                    <a:pt x="4094120" y="3409234"/>
                  </a:lnTo>
                  <a:lnTo>
                    <a:pt x="4100877" y="3404663"/>
                  </a:lnTo>
                  <a:lnTo>
                    <a:pt x="4105448" y="3397906"/>
                  </a:lnTo>
                  <a:lnTo>
                    <a:pt x="4107129" y="3389668"/>
                  </a:lnTo>
                  <a:lnTo>
                    <a:pt x="4107129" y="21247"/>
                  </a:lnTo>
                  <a:lnTo>
                    <a:pt x="4105448" y="13008"/>
                  </a:lnTo>
                  <a:lnTo>
                    <a:pt x="4100877" y="6251"/>
                  </a:lnTo>
                  <a:lnTo>
                    <a:pt x="4094120" y="1680"/>
                  </a:lnTo>
                  <a:lnTo>
                    <a:pt x="4085882" y="0"/>
                  </a:lnTo>
                  <a:close/>
                </a:path>
              </a:pathLst>
            </a:custGeom>
            <a:solidFill>
              <a:srgbClr val="1203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106" y="1341704"/>
              <a:ext cx="98425" cy="19685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23081" y="1319479"/>
            <a:ext cx="3705860" cy="10077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96B8FF"/>
                </a:solidFill>
                <a:latin typeface="Arial"/>
                <a:cs typeface="Arial"/>
              </a:rPr>
              <a:t>Asesmen</a:t>
            </a:r>
            <a:r>
              <a:rPr dirty="0" sz="1350" spc="-25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6B8FF"/>
                </a:solidFill>
                <a:latin typeface="Arial"/>
                <a:cs typeface="Arial"/>
              </a:rPr>
              <a:t>Interaktif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33000"/>
              </a:lnSpc>
              <a:spcBef>
                <a:spcPts val="844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Pindai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kode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QR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atau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kunjungi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tautan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berikut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untuk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menguji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pemahamanmu</a:t>
            </a:r>
            <a:r>
              <a:rPr dirty="0" sz="1100" spc="-4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tentang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kebugaran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jasmani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3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kelentukan tubuh!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781" y="2543695"/>
            <a:ext cx="1644332" cy="38985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23081" y="3077362"/>
            <a:ext cx="18802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DFD5DE"/>
                </a:solidFill>
                <a:latin typeface="Arial"/>
                <a:cs typeface="Arial"/>
              </a:rPr>
              <a:t>Platform:</a:t>
            </a:r>
            <a:r>
              <a:rPr dirty="0" sz="1100" spc="-30" i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DFD5DE"/>
                </a:solidFill>
                <a:latin typeface="Arial"/>
                <a:cs typeface="Arial"/>
              </a:rPr>
              <a:t>Zepquizz</a:t>
            </a:r>
            <a:r>
              <a:rPr dirty="0" sz="1100" spc="-30" i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DFD5DE"/>
                </a:solidFill>
                <a:latin typeface="Arial"/>
                <a:cs typeface="Arial"/>
              </a:rPr>
              <a:t>/</a:t>
            </a:r>
            <a:r>
              <a:rPr dirty="0" sz="1100" spc="-25" i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DFD5DE"/>
                </a:solidFill>
                <a:latin typeface="Arial"/>
                <a:cs typeface="Arial"/>
              </a:rPr>
              <a:t>Wordwall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36998" y="1319479"/>
            <a:ext cx="13385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0">
                <a:latin typeface="Segoe UI Symbol"/>
                <a:cs typeface="Segoe UI Symbol"/>
              </a:rPr>
              <a:t>🌟</a:t>
            </a:r>
            <a:r>
              <a:rPr dirty="0" sz="1350" spc="-10">
                <a:latin typeface="Segoe UI Symbol"/>
                <a:cs typeface="Segoe UI Symbol"/>
              </a:rPr>
              <a:t> </a:t>
            </a:r>
            <a:r>
              <a:rPr dirty="0" sz="1350">
                <a:solidFill>
                  <a:srgbClr val="96B8FF"/>
                </a:solidFill>
                <a:latin typeface="Arial"/>
                <a:cs typeface="Arial"/>
              </a:rPr>
              <a:t>Refleksi</a:t>
            </a:r>
            <a:r>
              <a:rPr dirty="0" sz="1350" spc="-15">
                <a:solidFill>
                  <a:srgbClr val="96B8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6B8FF"/>
                </a:solidFill>
                <a:latin typeface="Arial"/>
                <a:cs typeface="Arial"/>
              </a:rPr>
              <a:t>Akhir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749698" y="3656406"/>
            <a:ext cx="3903345" cy="789305"/>
            <a:chOff x="4749698" y="3656406"/>
            <a:chExt cx="3903345" cy="789305"/>
          </a:xfrm>
        </p:grpSpPr>
        <p:sp>
          <p:nvSpPr>
            <p:cNvPr id="11" name="object 11" descr=""/>
            <p:cNvSpPr/>
            <p:nvPr/>
          </p:nvSpPr>
          <p:spPr>
            <a:xfrm>
              <a:off x="4749698" y="3656406"/>
              <a:ext cx="3903345" cy="789305"/>
            </a:xfrm>
            <a:custGeom>
              <a:avLst/>
              <a:gdLst/>
              <a:ahLst/>
              <a:cxnLst/>
              <a:rect l="l" t="t" r="r" b="b"/>
              <a:pathLst>
                <a:path w="3903345" h="789304">
                  <a:moveTo>
                    <a:pt x="3881678" y="0"/>
                  </a:moveTo>
                  <a:lnTo>
                    <a:pt x="21265" y="0"/>
                  </a:lnTo>
                  <a:lnTo>
                    <a:pt x="13021" y="1682"/>
                  </a:lnTo>
                  <a:lnTo>
                    <a:pt x="6258" y="6257"/>
                  </a:lnTo>
                  <a:lnTo>
                    <a:pt x="1682" y="13019"/>
                  </a:lnTo>
                  <a:lnTo>
                    <a:pt x="0" y="21259"/>
                  </a:lnTo>
                  <a:lnTo>
                    <a:pt x="0" y="767816"/>
                  </a:lnTo>
                  <a:lnTo>
                    <a:pt x="1682" y="776064"/>
                  </a:lnTo>
                  <a:lnTo>
                    <a:pt x="6258" y="782829"/>
                  </a:lnTo>
                  <a:lnTo>
                    <a:pt x="13021" y="787406"/>
                  </a:lnTo>
                  <a:lnTo>
                    <a:pt x="21265" y="789089"/>
                  </a:lnTo>
                  <a:lnTo>
                    <a:pt x="3881678" y="789089"/>
                  </a:lnTo>
                  <a:lnTo>
                    <a:pt x="3889919" y="787406"/>
                  </a:lnTo>
                  <a:lnTo>
                    <a:pt x="3896680" y="782829"/>
                  </a:lnTo>
                  <a:lnTo>
                    <a:pt x="3901256" y="776064"/>
                  </a:lnTo>
                  <a:lnTo>
                    <a:pt x="3902938" y="767816"/>
                  </a:lnTo>
                  <a:lnTo>
                    <a:pt x="3902938" y="21259"/>
                  </a:lnTo>
                  <a:lnTo>
                    <a:pt x="3901256" y="13019"/>
                  </a:lnTo>
                  <a:lnTo>
                    <a:pt x="3896680" y="6257"/>
                  </a:lnTo>
                  <a:lnTo>
                    <a:pt x="3889919" y="1682"/>
                  </a:lnTo>
                  <a:lnTo>
                    <a:pt x="3881678" y="0"/>
                  </a:lnTo>
                  <a:close/>
                </a:path>
              </a:pathLst>
            </a:custGeom>
            <a:solidFill>
              <a:srgbClr val="1739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55" y="3880993"/>
              <a:ext cx="177180" cy="14175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736998" y="1778063"/>
            <a:ext cx="3915410" cy="2442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790" marR="45085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"Memastikan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tubuh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tetap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bugar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lentur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adalah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investasi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terbaik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untuk</a:t>
            </a:r>
            <a:r>
              <a:rPr dirty="0" sz="110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kesejahteraan</a:t>
            </a:r>
            <a:r>
              <a:rPr dirty="0" sz="110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dan</a:t>
            </a:r>
            <a:r>
              <a:rPr dirty="0" sz="1100" spc="-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kebahagiaan aktivitas sehari-hari."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</a:pP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Latihan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kelentukan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bukan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hanya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untuk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hari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ini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ini</a:t>
            </a:r>
            <a:r>
              <a:rPr dirty="0" sz="1100" spc="-3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adalah kebiasaan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seumur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hidup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yang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akan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kamu</a:t>
            </a:r>
            <a:r>
              <a:rPr dirty="0" sz="1100" spc="-2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rasakan</a:t>
            </a:r>
            <a:r>
              <a:rPr dirty="0" sz="1100" spc="-20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manfaatnya </a:t>
            </a:r>
            <a:r>
              <a:rPr dirty="0" sz="1100">
                <a:solidFill>
                  <a:srgbClr val="DFD5DE"/>
                </a:solidFill>
                <a:latin typeface="Arial"/>
                <a:cs typeface="Arial"/>
              </a:rPr>
              <a:t>setiap</a:t>
            </a:r>
            <a:r>
              <a:rPr dirty="0" sz="1100" spc="-55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FD5DE"/>
                </a:solidFill>
                <a:latin typeface="Arial"/>
                <a:cs typeface="Arial"/>
              </a:rPr>
              <a:t>hari.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Arial"/>
              <a:cs typeface="Arial"/>
            </a:endParaRPr>
          </a:p>
          <a:p>
            <a:pPr marL="473075" marR="151130">
              <a:lnSpc>
                <a:spcPct val="133000"/>
              </a:lnSpc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Sampai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jumpa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kebugaran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berikutnya!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Tetap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semangat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bergerak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aktif!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235">
                <a:latin typeface="Segoe UI Symbol"/>
                <a:cs typeface="Segoe UI Symbol"/>
              </a:rPr>
              <a:t>💪</a:t>
            </a:r>
            <a:endParaRPr sz="11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2026-06-10T03:10:48Z</dcterms:created>
  <dcterms:modified xsi:type="dcterms:W3CDTF">2026-06-10T03:10:48Z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2026-06-10T00:00:00Z</vt:filetime>
  </property>
  <property fmtid="{D5CDD505-2E9C-101B-9397-08002B2CF9AE}" pid="3" name="LastSaved">
    <vt:filetime>2026-06-10T00:00:00Z</vt:filetime>
  </property>
  <property fmtid="{D5CDD505-2E9C-101B-9397-08002B2CF9AE}" pid="4" name="Producer">
    <vt:lpwstr>3-Heights(TM) PDF Security Shell 4.8.25.2 (http://www.pdf-tools.com)</vt:lpwstr>
  </property>
</Properties>
</file>