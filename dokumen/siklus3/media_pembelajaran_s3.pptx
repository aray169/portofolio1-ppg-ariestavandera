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3156B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14203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3156B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14203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3156B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3156B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AFB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1463" y="788897"/>
            <a:ext cx="4336415" cy="8337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3156B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3419" y="1856117"/>
            <a:ext cx="4558665" cy="1254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14203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 descr=""/>
            <p:cNvSpPr/>
            <p:nvPr/>
          </p:nvSpPr>
          <p:spPr>
            <a:xfrm>
              <a:off x="3429000" y="0"/>
              <a:ext cx="5715000" cy="5143500"/>
            </a:xfrm>
            <a:custGeom>
              <a:avLst/>
              <a:gdLst/>
              <a:ahLst/>
              <a:cxnLst/>
              <a:rect l="l" t="t" r="r" b="b"/>
              <a:pathLst>
                <a:path w="5715000" h="5143500">
                  <a:moveTo>
                    <a:pt x="0" y="5143500"/>
                  </a:moveTo>
                  <a:lnTo>
                    <a:pt x="5715000" y="5143500"/>
                  </a:lnTo>
                  <a:lnTo>
                    <a:pt x="5715000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solidFill>
              <a:srgbClr val="FAFB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29181" y="4844491"/>
              <a:ext cx="1071843" cy="256032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3429000" cy="51435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89197" y="407175"/>
            <a:ext cx="4457065" cy="429259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spc="-10"/>
              <a:t>Membentengi</a:t>
            </a:r>
            <a:r>
              <a:rPr dirty="0" sz="2650" spc="-120"/>
              <a:t> </a:t>
            </a:r>
            <a:r>
              <a:rPr dirty="0" sz="2650"/>
              <a:t>Generasi</a:t>
            </a:r>
            <a:r>
              <a:rPr dirty="0" sz="2650" spc="-114"/>
              <a:t> </a:t>
            </a:r>
            <a:r>
              <a:rPr dirty="0" sz="2650" spc="-20"/>
              <a:t>Muda</a:t>
            </a:r>
            <a:endParaRPr sz="2650"/>
          </a:p>
        </p:txBody>
      </p:sp>
      <p:sp>
        <p:nvSpPr>
          <p:cNvPr id="7" name="object 7" descr=""/>
          <p:cNvSpPr txBox="1"/>
          <p:nvPr/>
        </p:nvSpPr>
        <p:spPr>
          <a:xfrm>
            <a:off x="3889197" y="1019962"/>
            <a:ext cx="4123054" cy="3647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11454">
              <a:lnSpc>
                <a:spcPts val="4560"/>
              </a:lnSpc>
              <a:spcBef>
                <a:spcPts val="100"/>
              </a:spcBef>
              <a:tabLst>
                <a:tab pos="1713230" algn="l"/>
                <a:tab pos="1737995" algn="l"/>
                <a:tab pos="1892935" algn="l"/>
              </a:tabLst>
            </a:pPr>
            <a:r>
              <a:rPr dirty="0" sz="3650" spc="-10">
                <a:solidFill>
                  <a:srgbClr val="3156B8"/>
                </a:solidFill>
                <a:latin typeface="Arial"/>
                <a:cs typeface="Arial"/>
              </a:rPr>
              <a:t>Bahaya</a:t>
            </a:r>
            <a:r>
              <a:rPr dirty="0" sz="3650">
                <a:solidFill>
                  <a:srgbClr val="3156B8"/>
                </a:solidFill>
                <a:latin typeface="Arial"/>
                <a:cs typeface="Arial"/>
              </a:rPr>
              <a:t>	</a:t>
            </a:r>
            <a:r>
              <a:rPr dirty="0" sz="3650" spc="-10">
                <a:solidFill>
                  <a:srgbClr val="3156B8"/>
                </a:solidFill>
                <a:latin typeface="Arial"/>
                <a:cs typeface="Arial"/>
              </a:rPr>
              <a:t>Kenakalan Remaja</a:t>
            </a:r>
            <a:r>
              <a:rPr dirty="0" sz="3650">
                <a:solidFill>
                  <a:srgbClr val="3156B8"/>
                </a:solidFill>
                <a:latin typeface="Arial"/>
                <a:cs typeface="Arial"/>
              </a:rPr>
              <a:t>		</a:t>
            </a:r>
            <a:r>
              <a:rPr dirty="0" sz="3650" spc="-50">
                <a:solidFill>
                  <a:srgbClr val="3156B8"/>
                </a:solidFill>
                <a:latin typeface="Arial"/>
                <a:cs typeface="Arial"/>
              </a:rPr>
              <a:t>&amp; </a:t>
            </a:r>
            <a:r>
              <a:rPr dirty="0" sz="3650" spc="-10">
                <a:solidFill>
                  <a:srgbClr val="3156B8"/>
                </a:solidFill>
                <a:latin typeface="Arial"/>
                <a:cs typeface="Arial"/>
              </a:rPr>
              <a:t>Penyalahgunaan Narkoba</a:t>
            </a:r>
            <a:r>
              <a:rPr dirty="0" sz="3650">
                <a:solidFill>
                  <a:srgbClr val="3156B8"/>
                </a:solidFill>
                <a:latin typeface="Arial"/>
                <a:cs typeface="Arial"/>
              </a:rPr>
              <a:t>	</a:t>
            </a:r>
            <a:r>
              <a:rPr dirty="0" sz="3650" spc="-20">
                <a:solidFill>
                  <a:srgbClr val="3156B8"/>
                </a:solidFill>
                <a:latin typeface="Arial"/>
                <a:cs typeface="Arial"/>
              </a:rPr>
              <a:t>bagi </a:t>
            </a:r>
            <a:r>
              <a:rPr dirty="0" sz="3650" spc="-10">
                <a:solidFill>
                  <a:srgbClr val="3156B8"/>
                </a:solidFill>
                <a:latin typeface="Arial"/>
                <a:cs typeface="Arial"/>
              </a:rPr>
              <a:t>Kesehatan</a:t>
            </a:r>
            <a:endParaRPr sz="3650">
              <a:latin typeface="Arial"/>
              <a:cs typeface="Arial"/>
            </a:endParaRPr>
          </a:p>
          <a:p>
            <a:pPr marL="12700" marR="5080">
              <a:lnSpc>
                <a:spcPct val="217300"/>
              </a:lnSpc>
              <a:spcBef>
                <a:spcPts val="240"/>
              </a:spcBef>
            </a:pPr>
            <a:r>
              <a:rPr dirty="0" sz="1050">
                <a:solidFill>
                  <a:srgbClr val="14203E"/>
                </a:solidFill>
                <a:latin typeface="Arial"/>
                <a:cs typeface="Arial"/>
              </a:rPr>
              <a:t>Modul</a:t>
            </a:r>
            <a:r>
              <a:rPr dirty="0" sz="105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4203E"/>
                </a:solidFill>
                <a:latin typeface="Arial"/>
                <a:cs typeface="Arial"/>
              </a:rPr>
              <a:t>Rencana</a:t>
            </a:r>
            <a:r>
              <a:rPr dirty="0" sz="105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4203E"/>
                </a:solidFill>
                <a:latin typeface="Arial"/>
                <a:cs typeface="Arial"/>
              </a:rPr>
              <a:t>Pembelajaran</a:t>
            </a:r>
            <a:r>
              <a:rPr dirty="0" sz="105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4203E"/>
                </a:solidFill>
                <a:latin typeface="Arial"/>
                <a:cs typeface="Arial"/>
              </a:rPr>
              <a:t>Mendalam</a:t>
            </a:r>
            <a:r>
              <a:rPr dirty="0" sz="105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4203E"/>
                </a:solidFill>
                <a:latin typeface="Arial"/>
                <a:cs typeface="Arial"/>
              </a:rPr>
              <a:t>(RPM)</a:t>
            </a:r>
            <a:r>
              <a:rPr dirty="0" sz="105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4203E"/>
                </a:solidFill>
                <a:latin typeface="Arial"/>
                <a:cs typeface="Arial"/>
              </a:rPr>
              <a:t>·</a:t>
            </a:r>
            <a:r>
              <a:rPr dirty="0" sz="105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4203E"/>
                </a:solidFill>
                <a:latin typeface="Arial"/>
                <a:cs typeface="Arial"/>
              </a:rPr>
              <a:t>Kelas</a:t>
            </a:r>
            <a:r>
              <a:rPr dirty="0" sz="105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4203E"/>
                </a:solidFill>
                <a:latin typeface="Arial"/>
                <a:cs typeface="Arial"/>
              </a:rPr>
              <a:t>VIII</a:t>
            </a:r>
            <a:r>
              <a:rPr dirty="0" sz="105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4203E"/>
                </a:solidFill>
                <a:latin typeface="Arial"/>
                <a:cs typeface="Arial"/>
              </a:rPr>
              <a:t>/</a:t>
            </a:r>
            <a:r>
              <a:rPr dirty="0" sz="105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4203E"/>
                </a:solidFill>
                <a:latin typeface="Arial"/>
                <a:cs typeface="Arial"/>
              </a:rPr>
              <a:t>Fase</a:t>
            </a:r>
            <a:r>
              <a:rPr dirty="0" sz="1050" spc="-2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50" spc="-50">
                <a:solidFill>
                  <a:srgbClr val="14203E"/>
                </a:solidFill>
                <a:latin typeface="Arial"/>
                <a:cs typeface="Arial"/>
              </a:rPr>
              <a:t>D </a:t>
            </a:r>
            <a:r>
              <a:rPr dirty="0" sz="1050">
                <a:solidFill>
                  <a:srgbClr val="14203E"/>
                </a:solidFill>
                <a:latin typeface="Arial"/>
                <a:cs typeface="Arial"/>
              </a:rPr>
              <a:t>Oleh:</a:t>
            </a:r>
            <a:r>
              <a:rPr dirty="0" sz="1050" spc="-4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14203E"/>
                </a:solidFill>
                <a:latin typeface="Arial"/>
                <a:cs typeface="Arial"/>
              </a:rPr>
              <a:t>Ariesta</a:t>
            </a:r>
            <a:r>
              <a:rPr dirty="0" sz="1050" spc="-45" b="1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14203E"/>
                </a:solidFill>
                <a:latin typeface="Arial"/>
                <a:cs typeface="Arial"/>
              </a:rPr>
              <a:t>Vandera,</a:t>
            </a:r>
            <a:r>
              <a:rPr dirty="0" sz="1050" spc="-45" b="1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14203E"/>
                </a:solidFill>
                <a:latin typeface="Arial"/>
                <a:cs typeface="Arial"/>
              </a:rPr>
              <a:t>S.</a:t>
            </a:r>
            <a:r>
              <a:rPr dirty="0" sz="1050" spc="-45" b="1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50" spc="-25" b="1">
                <a:solidFill>
                  <a:srgbClr val="14203E"/>
                </a:solidFill>
                <a:latin typeface="Arial"/>
                <a:cs typeface="Arial"/>
              </a:rPr>
              <a:t>Pd.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496119" y="857994"/>
            <a:ext cx="1577340" cy="266700"/>
          </a:xfrm>
          <a:custGeom>
            <a:avLst/>
            <a:gdLst/>
            <a:ahLst/>
            <a:cxnLst/>
            <a:rect l="l" t="t" r="r" b="b"/>
            <a:pathLst>
              <a:path w="1577339" h="266700">
                <a:moveTo>
                  <a:pt x="1569085" y="0"/>
                </a:moveTo>
                <a:lnTo>
                  <a:pt x="7679" y="0"/>
                </a:lnTo>
                <a:lnTo>
                  <a:pt x="0" y="7683"/>
                </a:lnTo>
                <a:lnTo>
                  <a:pt x="0" y="17017"/>
                </a:lnTo>
                <a:lnTo>
                  <a:pt x="0" y="258724"/>
                </a:lnTo>
                <a:lnTo>
                  <a:pt x="7679" y="266407"/>
                </a:lnTo>
                <a:lnTo>
                  <a:pt x="1569085" y="266407"/>
                </a:lnTo>
                <a:lnTo>
                  <a:pt x="1576755" y="258724"/>
                </a:lnTo>
                <a:lnTo>
                  <a:pt x="1576755" y="7683"/>
                </a:lnTo>
                <a:lnTo>
                  <a:pt x="1569085" y="0"/>
                </a:lnTo>
                <a:close/>
              </a:path>
            </a:pathLst>
          </a:custGeom>
          <a:solidFill>
            <a:srgbClr val="D6DF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68473" y="885498"/>
            <a:ext cx="144653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14203E"/>
                </a:solidFill>
                <a:latin typeface="Arial"/>
                <a:cs typeface="Arial"/>
              </a:rPr>
              <a:t>ORIENTASI</a:t>
            </a:r>
            <a:r>
              <a:rPr dirty="0" sz="850" spc="-4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4203E"/>
                </a:solidFill>
                <a:latin typeface="Arial"/>
                <a:cs typeface="Arial"/>
              </a:rPr>
              <a:t>MASALAH</a:t>
            </a:r>
            <a:r>
              <a:rPr dirty="0" sz="850" spc="-4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4203E"/>
                </a:solidFill>
                <a:latin typeface="Arial"/>
                <a:cs typeface="Arial"/>
              </a:rPr>
              <a:t>·</a:t>
            </a:r>
            <a:r>
              <a:rPr dirty="0" sz="850" spc="-4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850" spc="-25">
                <a:solidFill>
                  <a:srgbClr val="14203E"/>
                </a:solidFill>
                <a:latin typeface="Arial"/>
                <a:cs typeface="Arial"/>
              </a:rPr>
              <a:t>PBL</a:t>
            </a:r>
            <a:endParaRPr sz="85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83419" y="1161008"/>
            <a:ext cx="4606925" cy="880744"/>
          </a:xfrm>
          <a:prstGeom prst="rect"/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ts val="3429"/>
              </a:lnSpc>
              <a:spcBef>
                <a:spcPts val="70"/>
              </a:spcBef>
            </a:pPr>
            <a:r>
              <a:rPr dirty="0" sz="2750"/>
              <a:t>Mengapa</a:t>
            </a:r>
            <a:r>
              <a:rPr dirty="0" sz="2750" spc="-35"/>
              <a:t> </a:t>
            </a:r>
            <a:r>
              <a:rPr dirty="0" sz="2750"/>
              <a:t>Ini</a:t>
            </a:r>
            <a:r>
              <a:rPr dirty="0" sz="2750" spc="-20"/>
              <a:t> </a:t>
            </a:r>
            <a:r>
              <a:rPr dirty="0" sz="2750"/>
              <a:t>Terjadi?</a:t>
            </a:r>
            <a:r>
              <a:rPr dirty="0" sz="2750" spc="-20"/>
              <a:t> </a:t>
            </a:r>
            <a:r>
              <a:rPr dirty="0" sz="2750" spc="-10"/>
              <a:t>Sebuah </a:t>
            </a:r>
            <a:r>
              <a:rPr dirty="0" sz="2750"/>
              <a:t>Refleksi</a:t>
            </a:r>
            <a:r>
              <a:rPr dirty="0" sz="2750" spc="-30"/>
              <a:t> </a:t>
            </a:r>
            <a:r>
              <a:rPr dirty="0" sz="2750" spc="-10"/>
              <a:t>Realita</a:t>
            </a:r>
            <a:endParaRPr sz="2750"/>
          </a:p>
        </p:txBody>
      </p:sp>
      <p:grpSp>
        <p:nvGrpSpPr>
          <p:cNvPr id="6" name="object 6" descr=""/>
          <p:cNvGrpSpPr/>
          <p:nvPr/>
        </p:nvGrpSpPr>
        <p:grpSpPr>
          <a:xfrm>
            <a:off x="496119" y="3119589"/>
            <a:ext cx="4723130" cy="1006475"/>
            <a:chOff x="496119" y="3119589"/>
            <a:chExt cx="4723130" cy="1006475"/>
          </a:xfrm>
        </p:grpSpPr>
        <p:sp>
          <p:nvSpPr>
            <p:cNvPr id="7" name="object 7" descr=""/>
            <p:cNvSpPr/>
            <p:nvPr/>
          </p:nvSpPr>
          <p:spPr>
            <a:xfrm>
              <a:off x="496119" y="3119589"/>
              <a:ext cx="4723130" cy="1006475"/>
            </a:xfrm>
            <a:custGeom>
              <a:avLst/>
              <a:gdLst/>
              <a:ahLst/>
              <a:cxnLst/>
              <a:rect l="l" t="t" r="r" b="b"/>
              <a:pathLst>
                <a:path w="4723130" h="1006475">
                  <a:moveTo>
                    <a:pt x="4701501" y="0"/>
                  </a:moveTo>
                  <a:lnTo>
                    <a:pt x="21264" y="0"/>
                  </a:lnTo>
                  <a:lnTo>
                    <a:pt x="13020" y="1682"/>
                  </a:lnTo>
                  <a:lnTo>
                    <a:pt x="6257" y="6257"/>
                  </a:lnTo>
                  <a:lnTo>
                    <a:pt x="1682" y="13019"/>
                  </a:lnTo>
                  <a:lnTo>
                    <a:pt x="0" y="21259"/>
                  </a:lnTo>
                  <a:lnTo>
                    <a:pt x="0" y="985113"/>
                  </a:lnTo>
                  <a:lnTo>
                    <a:pt x="1682" y="993353"/>
                  </a:lnTo>
                  <a:lnTo>
                    <a:pt x="6257" y="1000115"/>
                  </a:lnTo>
                  <a:lnTo>
                    <a:pt x="13020" y="1004691"/>
                  </a:lnTo>
                  <a:lnTo>
                    <a:pt x="21264" y="1006373"/>
                  </a:lnTo>
                  <a:lnTo>
                    <a:pt x="4701501" y="1006373"/>
                  </a:lnTo>
                  <a:lnTo>
                    <a:pt x="4709742" y="1004691"/>
                  </a:lnTo>
                  <a:lnTo>
                    <a:pt x="4716503" y="1000115"/>
                  </a:lnTo>
                  <a:lnTo>
                    <a:pt x="4721079" y="993353"/>
                  </a:lnTo>
                  <a:lnTo>
                    <a:pt x="4722761" y="985113"/>
                  </a:lnTo>
                  <a:lnTo>
                    <a:pt x="4722761" y="21259"/>
                  </a:lnTo>
                  <a:lnTo>
                    <a:pt x="4721079" y="13019"/>
                  </a:lnTo>
                  <a:lnTo>
                    <a:pt x="4716503" y="6257"/>
                  </a:lnTo>
                  <a:lnTo>
                    <a:pt x="4709742" y="1682"/>
                  </a:lnTo>
                  <a:lnTo>
                    <a:pt x="4701501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7876" y="3320351"/>
              <a:ext cx="177180" cy="141757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483419" y="2208695"/>
            <a:ext cx="4730115" cy="1697355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dirty="0" sz="1100" spc="-10">
                <a:solidFill>
                  <a:srgbClr val="14203E"/>
                </a:solidFill>
                <a:latin typeface="Arial"/>
                <a:cs typeface="Arial"/>
              </a:rPr>
              <a:t>Bayangkan</a:t>
            </a:r>
            <a:r>
              <a:rPr dirty="0" sz="1100" spc="-3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seorang</a:t>
            </a:r>
            <a:r>
              <a:rPr dirty="0" sz="110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remaja</a:t>
            </a:r>
            <a:r>
              <a:rPr dirty="0" sz="110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berprestasi</a:t>
            </a:r>
            <a:r>
              <a:rPr dirty="0" sz="1100" spc="-3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—</a:t>
            </a:r>
            <a:r>
              <a:rPr dirty="0" sz="110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aktif,</a:t>
            </a:r>
            <a:r>
              <a:rPr dirty="0" sz="110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pintar,</a:t>
            </a:r>
            <a:r>
              <a:rPr dirty="0" sz="1100" spc="-3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dan</a:t>
            </a:r>
            <a:r>
              <a:rPr dirty="0" sz="110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penuh</a:t>
            </a:r>
            <a:r>
              <a:rPr dirty="0" sz="110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14203E"/>
                </a:solidFill>
                <a:latin typeface="Arial"/>
                <a:cs typeface="Arial"/>
              </a:rPr>
              <a:t>potensi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33000"/>
              </a:lnSpc>
            </a:pP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—</a:t>
            </a:r>
            <a:r>
              <a:rPr dirty="0" sz="1100" spc="-2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namun</a:t>
            </a:r>
            <a:r>
              <a:rPr dirty="0" sz="1100" spc="-1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hancur</a:t>
            </a:r>
            <a:r>
              <a:rPr dirty="0" sz="1100" spc="-2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masa</a:t>
            </a:r>
            <a:r>
              <a:rPr dirty="0" sz="1100" spc="-1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14203E"/>
                </a:solidFill>
                <a:latin typeface="Arial"/>
                <a:cs typeface="Arial"/>
              </a:rPr>
              <a:t>depannya</a:t>
            </a:r>
            <a:r>
              <a:rPr dirty="0" sz="1100" spc="-1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karena</a:t>
            </a:r>
            <a:r>
              <a:rPr dirty="0" sz="1100" spc="-2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salah</a:t>
            </a:r>
            <a:r>
              <a:rPr dirty="0" sz="1100" spc="-1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14203E"/>
                </a:solidFill>
                <a:latin typeface="Arial"/>
                <a:cs typeface="Arial"/>
              </a:rPr>
              <a:t>pergaulan.</a:t>
            </a:r>
            <a:r>
              <a:rPr dirty="0" sz="1100" spc="-1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Kasus</a:t>
            </a:r>
            <a:r>
              <a:rPr dirty="0" sz="1100" spc="-2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seperti</a:t>
            </a:r>
            <a:r>
              <a:rPr dirty="0" sz="1100" spc="-1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14203E"/>
                </a:solidFill>
                <a:latin typeface="Arial"/>
                <a:cs typeface="Arial"/>
              </a:rPr>
              <a:t>ini </a:t>
            </a: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nyata</a:t>
            </a:r>
            <a:r>
              <a:rPr dirty="0" sz="1100" spc="-3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dan</a:t>
            </a:r>
            <a:r>
              <a:rPr dirty="0" sz="1100" spc="-3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terjadi</a:t>
            </a:r>
            <a:r>
              <a:rPr dirty="0" sz="1100" spc="-3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setiap</a:t>
            </a:r>
            <a:r>
              <a:rPr dirty="0" sz="1100" spc="-3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hari</a:t>
            </a:r>
            <a:r>
              <a:rPr dirty="0" sz="1100" spc="-3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di</a:t>
            </a:r>
            <a:r>
              <a:rPr dirty="0" sz="1100" spc="-3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sekitar</a:t>
            </a:r>
            <a:r>
              <a:rPr dirty="0" sz="1100" spc="-3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14203E"/>
                </a:solidFill>
                <a:latin typeface="Arial"/>
                <a:cs typeface="Arial"/>
              </a:rPr>
              <a:t>kita.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100">
              <a:latin typeface="Arial"/>
              <a:cs typeface="Arial"/>
            </a:endParaRPr>
          </a:p>
          <a:p>
            <a:pPr algn="just" marL="473075" marR="808990">
              <a:lnSpc>
                <a:spcPct val="133000"/>
              </a:lnSpc>
            </a:pPr>
            <a:r>
              <a:rPr dirty="0" sz="1100" spc="-10" b="1">
                <a:latin typeface="Arial"/>
                <a:cs typeface="Arial"/>
              </a:rPr>
              <a:t>Pertanyaan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Pemantik:</a:t>
            </a:r>
            <a:r>
              <a:rPr dirty="0" sz="1100" spc="-10" b="1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Mengapa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remaja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yang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awalnya </a:t>
            </a:r>
            <a:r>
              <a:rPr dirty="0" sz="1100">
                <a:latin typeface="Arial"/>
                <a:cs typeface="Arial"/>
              </a:rPr>
              <a:t>berprestasi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bisa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mudah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terjerumus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narkoba?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Apa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yang </a:t>
            </a:r>
            <a:r>
              <a:rPr dirty="0" sz="1100" spc="-10">
                <a:latin typeface="Arial"/>
                <a:cs typeface="Arial"/>
              </a:rPr>
              <a:t>sebenarnya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salah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dalam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lingkaran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pergaulan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tersebut?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9181" y="4844491"/>
            <a:ext cx="1071843" cy="256032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496119" y="744363"/>
            <a:ext cx="1031240" cy="276225"/>
          </a:xfrm>
          <a:custGeom>
            <a:avLst/>
            <a:gdLst/>
            <a:ahLst/>
            <a:cxnLst/>
            <a:rect l="l" t="t" r="r" b="b"/>
            <a:pathLst>
              <a:path w="1031240" h="276225">
                <a:moveTo>
                  <a:pt x="0" y="17005"/>
                </a:moveTo>
                <a:lnTo>
                  <a:pt x="0" y="7683"/>
                </a:lnTo>
                <a:lnTo>
                  <a:pt x="7678" y="0"/>
                </a:lnTo>
                <a:lnTo>
                  <a:pt x="17010" y="0"/>
                </a:lnTo>
                <a:lnTo>
                  <a:pt x="1013623" y="0"/>
                </a:lnTo>
                <a:lnTo>
                  <a:pt x="1022955" y="0"/>
                </a:lnTo>
                <a:lnTo>
                  <a:pt x="1030635" y="7683"/>
                </a:lnTo>
                <a:lnTo>
                  <a:pt x="1030635" y="17005"/>
                </a:lnTo>
                <a:lnTo>
                  <a:pt x="1030635" y="17005"/>
                </a:lnTo>
                <a:lnTo>
                  <a:pt x="1030635" y="258914"/>
                </a:lnTo>
                <a:lnTo>
                  <a:pt x="1030635" y="268249"/>
                </a:lnTo>
                <a:lnTo>
                  <a:pt x="1022955" y="275920"/>
                </a:lnTo>
                <a:lnTo>
                  <a:pt x="7678" y="275920"/>
                </a:lnTo>
                <a:lnTo>
                  <a:pt x="0" y="268249"/>
                </a:lnTo>
                <a:lnTo>
                  <a:pt x="0" y="258914"/>
                </a:lnTo>
                <a:lnTo>
                  <a:pt x="0" y="17005"/>
                </a:lnTo>
                <a:close/>
              </a:path>
            </a:pathLst>
          </a:custGeom>
          <a:ln w="4762">
            <a:solidFill>
              <a:srgbClr val="3156B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73236" y="776630"/>
            <a:ext cx="88836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3156B8"/>
                </a:solidFill>
                <a:latin typeface="Arial"/>
                <a:cs typeface="Arial"/>
              </a:rPr>
              <a:t>ANALISIS</a:t>
            </a:r>
            <a:r>
              <a:rPr dirty="0" sz="850" spc="-35">
                <a:solidFill>
                  <a:srgbClr val="3156B8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3156B8"/>
                </a:solidFill>
                <a:latin typeface="Arial"/>
                <a:cs typeface="Arial"/>
              </a:rPr>
              <a:t>KRITIS</a:t>
            </a:r>
            <a:endParaRPr sz="85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83419" y="1056902"/>
            <a:ext cx="7557134" cy="4445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/>
              <a:t>Membongkar</a:t>
            </a:r>
            <a:r>
              <a:rPr dirty="0" sz="2750" spc="-15"/>
              <a:t> </a:t>
            </a:r>
            <a:r>
              <a:rPr dirty="0" sz="2750"/>
              <a:t>Akar</a:t>
            </a:r>
            <a:r>
              <a:rPr dirty="0" sz="2750" spc="-10"/>
              <a:t> </a:t>
            </a:r>
            <a:r>
              <a:rPr dirty="0" sz="2750"/>
              <a:t>Masalah</a:t>
            </a:r>
            <a:r>
              <a:rPr dirty="0" sz="2750" spc="-15"/>
              <a:t> </a:t>
            </a:r>
            <a:r>
              <a:rPr dirty="0" sz="2750"/>
              <a:t>dari</a:t>
            </a:r>
            <a:r>
              <a:rPr dirty="0" sz="2750" spc="-10"/>
              <a:t> </a:t>
            </a:r>
            <a:r>
              <a:rPr dirty="0" sz="2750"/>
              <a:t>Dalam</a:t>
            </a:r>
            <a:r>
              <a:rPr dirty="0" sz="2750" spc="-15"/>
              <a:t> </a:t>
            </a:r>
            <a:r>
              <a:rPr dirty="0" sz="2750"/>
              <a:t>dan</a:t>
            </a:r>
            <a:r>
              <a:rPr dirty="0" sz="2750" spc="-10"/>
              <a:t> </a:t>
            </a:r>
            <a:r>
              <a:rPr dirty="0" sz="2750" spc="-20"/>
              <a:t>Luar</a:t>
            </a:r>
            <a:endParaRPr sz="2750"/>
          </a:p>
        </p:txBody>
      </p:sp>
      <p:sp>
        <p:nvSpPr>
          <p:cNvPr id="6" name="object 6" descr=""/>
          <p:cNvSpPr txBox="1"/>
          <p:nvPr/>
        </p:nvSpPr>
        <p:spPr>
          <a:xfrm>
            <a:off x="483419" y="2104593"/>
            <a:ext cx="8022590" cy="471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000"/>
              </a:lnSpc>
              <a:spcBef>
                <a:spcPts val="100"/>
              </a:spcBef>
            </a:pPr>
            <a:r>
              <a:rPr dirty="0" sz="1100" spc="-10">
                <a:solidFill>
                  <a:srgbClr val="14203E"/>
                </a:solidFill>
                <a:latin typeface="Arial"/>
                <a:cs typeface="Arial"/>
              </a:rPr>
              <a:t>Kenakalan</a:t>
            </a:r>
            <a:r>
              <a:rPr dirty="0" sz="1100" spc="-3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remaja</a:t>
            </a:r>
            <a:r>
              <a:rPr dirty="0" sz="110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tidak</a:t>
            </a:r>
            <a:r>
              <a:rPr dirty="0" sz="110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terjadi</a:t>
            </a:r>
            <a:r>
              <a:rPr dirty="0" sz="110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tanpa</a:t>
            </a:r>
            <a:r>
              <a:rPr dirty="0" sz="110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sebab.</a:t>
            </a:r>
            <a:r>
              <a:rPr dirty="0" sz="110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Dua</a:t>
            </a:r>
            <a:r>
              <a:rPr dirty="0" sz="110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kelompok</a:t>
            </a:r>
            <a:r>
              <a:rPr dirty="0" sz="110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faktor</a:t>
            </a:r>
            <a:r>
              <a:rPr dirty="0" sz="110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utama</a:t>
            </a:r>
            <a:r>
              <a:rPr dirty="0" sz="110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saling</a:t>
            </a:r>
            <a:r>
              <a:rPr dirty="0" sz="1100" spc="-3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mendorong</a:t>
            </a:r>
            <a:r>
              <a:rPr dirty="0" sz="110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remaja</a:t>
            </a:r>
            <a:r>
              <a:rPr dirty="0" sz="110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ke</a:t>
            </a:r>
            <a:r>
              <a:rPr dirty="0" sz="110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dalam</a:t>
            </a:r>
            <a:r>
              <a:rPr dirty="0" sz="110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14203E"/>
                </a:solidFill>
                <a:latin typeface="Arial"/>
                <a:cs typeface="Arial"/>
              </a:rPr>
              <a:t>lingkaran</a:t>
            </a:r>
            <a:r>
              <a:rPr dirty="0" sz="110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14203E"/>
                </a:solidFill>
                <a:latin typeface="Arial"/>
                <a:cs typeface="Arial"/>
              </a:rPr>
              <a:t>berbahaya </a:t>
            </a:r>
            <a:r>
              <a:rPr dirty="0" sz="1100" spc="-20">
                <a:solidFill>
                  <a:srgbClr val="14203E"/>
                </a:solidFill>
                <a:latin typeface="Arial"/>
                <a:cs typeface="Arial"/>
              </a:rPr>
              <a:t>ini.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394021" y="2788666"/>
            <a:ext cx="4107179" cy="1610995"/>
          </a:xfrm>
          <a:custGeom>
            <a:avLst/>
            <a:gdLst/>
            <a:ahLst/>
            <a:cxnLst/>
            <a:rect l="l" t="t" r="r" b="b"/>
            <a:pathLst>
              <a:path w="4107179" h="1610995">
                <a:moveTo>
                  <a:pt x="4085882" y="0"/>
                </a:moveTo>
                <a:lnTo>
                  <a:pt x="21258" y="0"/>
                </a:lnTo>
                <a:lnTo>
                  <a:pt x="13016" y="1682"/>
                </a:lnTo>
                <a:lnTo>
                  <a:pt x="6255" y="6257"/>
                </a:lnTo>
                <a:lnTo>
                  <a:pt x="1681" y="13019"/>
                </a:lnTo>
                <a:lnTo>
                  <a:pt x="0" y="21259"/>
                </a:lnTo>
                <a:lnTo>
                  <a:pt x="0" y="1589214"/>
                </a:lnTo>
                <a:lnTo>
                  <a:pt x="1681" y="1597454"/>
                </a:lnTo>
                <a:lnTo>
                  <a:pt x="6255" y="1604216"/>
                </a:lnTo>
                <a:lnTo>
                  <a:pt x="13016" y="1608791"/>
                </a:lnTo>
                <a:lnTo>
                  <a:pt x="21258" y="1610474"/>
                </a:lnTo>
                <a:lnTo>
                  <a:pt x="4085882" y="1610474"/>
                </a:lnTo>
                <a:lnTo>
                  <a:pt x="4094120" y="1608791"/>
                </a:lnTo>
                <a:lnTo>
                  <a:pt x="4100877" y="1604216"/>
                </a:lnTo>
                <a:lnTo>
                  <a:pt x="4105448" y="1597454"/>
                </a:lnTo>
                <a:lnTo>
                  <a:pt x="4107129" y="1589214"/>
                </a:lnTo>
                <a:lnTo>
                  <a:pt x="4107129" y="21259"/>
                </a:lnTo>
                <a:lnTo>
                  <a:pt x="4105448" y="13019"/>
                </a:lnTo>
                <a:lnTo>
                  <a:pt x="4100877" y="6257"/>
                </a:lnTo>
                <a:lnTo>
                  <a:pt x="4094120" y="1682"/>
                </a:lnTo>
                <a:lnTo>
                  <a:pt x="4085882" y="0"/>
                </a:lnTo>
                <a:close/>
              </a:path>
            </a:pathLst>
          </a:custGeom>
          <a:solidFill>
            <a:srgbClr val="3156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523081" y="2914091"/>
            <a:ext cx="113030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FFFFFF"/>
                </a:solidFill>
                <a:latin typeface="Arial"/>
                <a:cs typeface="Arial"/>
              </a:rPr>
              <a:t>Faktor</a:t>
            </a:r>
            <a:r>
              <a:rPr dirty="0" sz="135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FFFFFF"/>
                </a:solidFill>
                <a:latin typeface="Arial"/>
                <a:cs typeface="Arial"/>
              </a:rPr>
              <a:t>Internal</a:t>
            </a:r>
            <a:endParaRPr sz="135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23081" y="3222662"/>
            <a:ext cx="2992755" cy="917575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35"/>
              </a:spcBef>
              <a:buChar char="•"/>
              <a:tabLst>
                <a:tab pos="354965" algn="l"/>
              </a:tabLst>
            </a:pP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Stres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akademik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dan</a:t>
            </a:r>
            <a:r>
              <a:rPr dirty="0" sz="11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tekanan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nilai</a:t>
            </a:r>
            <a:endParaRPr sz="11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Char char="•"/>
              <a:tabLst>
                <a:tab pos="354965" algn="l"/>
              </a:tabLst>
            </a:pP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Krisis</a:t>
            </a:r>
            <a:r>
              <a:rPr dirty="0" sz="11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identitas</a:t>
            </a:r>
            <a:r>
              <a:rPr dirty="0" sz="11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dan</a:t>
            </a:r>
            <a:r>
              <a:rPr dirty="0" sz="11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pencarian</a:t>
            </a:r>
            <a:r>
              <a:rPr dirty="0" sz="11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jati</a:t>
            </a:r>
            <a:r>
              <a:rPr dirty="0" sz="11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Arial"/>
                <a:cs typeface="Arial"/>
              </a:rPr>
              <a:t>diri</a:t>
            </a:r>
            <a:endParaRPr sz="11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Char char="•"/>
              <a:tabLst>
                <a:tab pos="354965" algn="l"/>
              </a:tabLst>
            </a:pP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Keinginan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keliru</a:t>
            </a:r>
            <a:r>
              <a:rPr dirty="0" sz="11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untuk</a:t>
            </a:r>
            <a:r>
              <a:rPr dirty="0" sz="11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diakui</a:t>
            </a:r>
            <a:r>
              <a:rPr dirty="0" sz="11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dan</a:t>
            </a:r>
            <a:r>
              <a:rPr dirty="0" sz="11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dihargai</a:t>
            </a:r>
            <a:endParaRPr sz="11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Char char="•"/>
              <a:tabLst>
                <a:tab pos="354965" algn="l"/>
              </a:tabLst>
            </a:pP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Emosi</a:t>
            </a:r>
            <a:r>
              <a:rPr dirty="0" sz="11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yang</a:t>
            </a: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tidak</a:t>
            </a: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stabil</a:t>
            </a: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dan</a:t>
            </a:r>
            <a:r>
              <a:rPr dirty="0" sz="11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belum</a:t>
            </a: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matang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736998" y="2914091"/>
            <a:ext cx="127317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3156B8"/>
                </a:solidFill>
                <a:latin typeface="Arial"/>
                <a:cs typeface="Arial"/>
              </a:rPr>
              <a:t>Faktor</a:t>
            </a:r>
            <a:r>
              <a:rPr dirty="0" sz="1350" spc="-20">
                <a:solidFill>
                  <a:srgbClr val="3156B8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3156B8"/>
                </a:solidFill>
                <a:latin typeface="Arial"/>
                <a:cs typeface="Arial"/>
              </a:rPr>
              <a:t>Eksternal</a:t>
            </a:r>
            <a:endParaRPr sz="135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736998" y="3222662"/>
            <a:ext cx="3404235" cy="917575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35"/>
              </a:spcBef>
              <a:buChar char="•"/>
              <a:tabLst>
                <a:tab pos="354965" algn="l"/>
              </a:tabLst>
            </a:pP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Tekanan</a:t>
            </a:r>
            <a:r>
              <a:rPr dirty="0" sz="1100" spc="-4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teman</a:t>
            </a:r>
            <a:r>
              <a:rPr dirty="0" sz="1100" spc="-3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sebaya</a:t>
            </a:r>
            <a:r>
              <a:rPr dirty="0" sz="1100" spc="-4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(</a:t>
            </a:r>
            <a:r>
              <a:rPr dirty="0" sz="1100" i="1">
                <a:solidFill>
                  <a:srgbClr val="14203E"/>
                </a:solidFill>
                <a:latin typeface="Arial"/>
                <a:cs typeface="Arial"/>
              </a:rPr>
              <a:t>peer</a:t>
            </a:r>
            <a:r>
              <a:rPr dirty="0" sz="1100" spc="-35" i="1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14203E"/>
                </a:solidFill>
                <a:latin typeface="Arial"/>
                <a:cs typeface="Arial"/>
              </a:rPr>
              <a:t>pressure</a:t>
            </a:r>
            <a:r>
              <a:rPr dirty="0" sz="1100" spc="-10">
                <a:solidFill>
                  <a:srgbClr val="14203E"/>
                </a:solidFill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Char char="•"/>
              <a:tabLst>
                <a:tab pos="354965" algn="l"/>
              </a:tabLst>
            </a:pPr>
            <a:r>
              <a:rPr dirty="0" sz="1100" spc="-10">
                <a:solidFill>
                  <a:srgbClr val="14203E"/>
                </a:solidFill>
                <a:latin typeface="Arial"/>
                <a:cs typeface="Arial"/>
              </a:rPr>
              <a:t>Kurangnya</a:t>
            </a:r>
            <a:r>
              <a:rPr dirty="0" sz="1100" spc="-2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14203E"/>
                </a:solidFill>
                <a:latin typeface="Arial"/>
                <a:cs typeface="Arial"/>
              </a:rPr>
              <a:t>komunikasi</a:t>
            </a:r>
            <a:r>
              <a:rPr dirty="0" sz="1100" spc="-1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dan</a:t>
            </a:r>
            <a:r>
              <a:rPr dirty="0" sz="1100" spc="-2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kehangatan</a:t>
            </a:r>
            <a:r>
              <a:rPr dirty="0" sz="1100" spc="-1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di</a:t>
            </a:r>
            <a:r>
              <a:rPr dirty="0" sz="1100" spc="-2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14203E"/>
                </a:solidFill>
                <a:latin typeface="Arial"/>
                <a:cs typeface="Arial"/>
              </a:rPr>
              <a:t>rumah</a:t>
            </a:r>
            <a:endParaRPr sz="11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Char char="•"/>
              <a:tabLst>
                <a:tab pos="354965" algn="l"/>
              </a:tabLst>
            </a:pPr>
            <a:r>
              <a:rPr dirty="0" sz="1100" spc="-10">
                <a:solidFill>
                  <a:srgbClr val="14203E"/>
                </a:solidFill>
                <a:latin typeface="Arial"/>
                <a:cs typeface="Arial"/>
              </a:rPr>
              <a:t>Manipulasi</a:t>
            </a:r>
            <a:r>
              <a:rPr dirty="0" sz="1100" spc="-3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informasi</a:t>
            </a:r>
            <a:r>
              <a:rPr dirty="0" sz="110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di</a:t>
            </a:r>
            <a:r>
              <a:rPr dirty="0" sz="110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media</a:t>
            </a:r>
            <a:r>
              <a:rPr dirty="0" sz="110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14203E"/>
                </a:solidFill>
                <a:latin typeface="Arial"/>
                <a:cs typeface="Arial"/>
              </a:rPr>
              <a:t>sosial</a:t>
            </a:r>
            <a:endParaRPr sz="11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Char char="•"/>
              <a:tabLst>
                <a:tab pos="354965" algn="l"/>
              </a:tabLst>
            </a:pPr>
            <a:r>
              <a:rPr dirty="0" sz="1100" spc="-10">
                <a:solidFill>
                  <a:srgbClr val="14203E"/>
                </a:solidFill>
                <a:latin typeface="Arial"/>
                <a:cs typeface="Arial"/>
              </a:rPr>
              <a:t>Lingkungan</a:t>
            </a:r>
            <a:r>
              <a:rPr dirty="0" sz="1100" spc="-2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14203E"/>
                </a:solidFill>
                <a:latin typeface="Arial"/>
                <a:cs typeface="Arial"/>
              </a:rPr>
              <a:t>pergaulan</a:t>
            </a:r>
            <a:r>
              <a:rPr dirty="0" sz="1100" spc="-1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yang</a:t>
            </a:r>
            <a:r>
              <a:rPr dirty="0" sz="1100" spc="-1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4203E"/>
                </a:solidFill>
                <a:latin typeface="Arial"/>
                <a:cs typeface="Arial"/>
              </a:rPr>
              <a:t>tidak</a:t>
            </a:r>
            <a:r>
              <a:rPr dirty="0" sz="1100" spc="-1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14203E"/>
                </a:solidFill>
                <a:latin typeface="Arial"/>
                <a:cs typeface="Arial"/>
              </a:rPr>
              <a:t>sehat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9181" y="4844491"/>
            <a:ext cx="1071843" cy="256032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827336" y="329802"/>
            <a:ext cx="987425" cy="187960"/>
          </a:xfrm>
          <a:custGeom>
            <a:avLst/>
            <a:gdLst/>
            <a:ahLst/>
            <a:cxnLst/>
            <a:rect l="l" t="t" r="r" b="b"/>
            <a:pathLst>
              <a:path w="987425" h="187959">
                <a:moveTo>
                  <a:pt x="980998" y="0"/>
                </a:moveTo>
                <a:lnTo>
                  <a:pt x="5879" y="0"/>
                </a:lnTo>
                <a:lnTo>
                  <a:pt x="0" y="5880"/>
                </a:lnTo>
                <a:lnTo>
                  <a:pt x="0" y="13017"/>
                </a:lnTo>
                <a:lnTo>
                  <a:pt x="0" y="181787"/>
                </a:lnTo>
                <a:lnTo>
                  <a:pt x="5879" y="187667"/>
                </a:lnTo>
                <a:lnTo>
                  <a:pt x="980998" y="187667"/>
                </a:lnTo>
                <a:lnTo>
                  <a:pt x="986878" y="181787"/>
                </a:lnTo>
                <a:lnTo>
                  <a:pt x="986878" y="5880"/>
                </a:lnTo>
                <a:lnTo>
                  <a:pt x="980998" y="0"/>
                </a:lnTo>
                <a:close/>
              </a:path>
            </a:pathLst>
          </a:custGeom>
          <a:solidFill>
            <a:srgbClr val="D6DF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879748" y="347882"/>
            <a:ext cx="896619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10">
                <a:solidFill>
                  <a:srgbClr val="14203E"/>
                </a:solidFill>
                <a:latin typeface="Arial"/>
                <a:cs typeface="Arial"/>
              </a:rPr>
              <a:t>LINTAS</a:t>
            </a:r>
            <a:r>
              <a:rPr dirty="0" sz="650" spc="-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14203E"/>
                </a:solidFill>
                <a:latin typeface="Arial"/>
                <a:cs typeface="Arial"/>
              </a:rPr>
              <a:t>ILMU </a:t>
            </a:r>
            <a:r>
              <a:rPr dirty="0" sz="650" spc="-10">
                <a:solidFill>
                  <a:srgbClr val="14203E"/>
                </a:solidFill>
                <a:latin typeface="Arial"/>
                <a:cs typeface="Arial"/>
              </a:rPr>
              <a:t>BIOLOGI</a:t>
            </a:r>
            <a:endParaRPr sz="65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14636" y="532325"/>
            <a:ext cx="503618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/>
              <a:t>Apa</a:t>
            </a:r>
            <a:r>
              <a:rPr dirty="0" sz="2100" spc="-25"/>
              <a:t> </a:t>
            </a:r>
            <a:r>
              <a:rPr dirty="0" sz="2100"/>
              <a:t>yang</a:t>
            </a:r>
            <a:r>
              <a:rPr dirty="0" sz="2100" spc="-20"/>
              <a:t> </a:t>
            </a:r>
            <a:r>
              <a:rPr dirty="0" sz="2100"/>
              <a:t>Terjadi</a:t>
            </a:r>
            <a:r>
              <a:rPr dirty="0" sz="2100" spc="-25"/>
              <a:t> </a:t>
            </a:r>
            <a:r>
              <a:rPr dirty="0" sz="2100"/>
              <a:t>pada</a:t>
            </a:r>
            <a:r>
              <a:rPr dirty="0" sz="2100" spc="-20"/>
              <a:t> </a:t>
            </a:r>
            <a:r>
              <a:rPr dirty="0" sz="2100"/>
              <a:t>Organ</a:t>
            </a:r>
            <a:r>
              <a:rPr dirty="0" sz="2100" spc="-25"/>
              <a:t> </a:t>
            </a:r>
            <a:r>
              <a:rPr dirty="0" sz="2100"/>
              <a:t>Tubuh</a:t>
            </a:r>
            <a:r>
              <a:rPr dirty="0" sz="2100" spc="-20"/>
              <a:t> </a:t>
            </a:r>
            <a:r>
              <a:rPr dirty="0" sz="2100" spc="-10"/>
              <a:t>Kita?</a:t>
            </a:r>
            <a:endParaRPr sz="2100"/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7336" y="1107950"/>
            <a:ext cx="3612210" cy="3612210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4709071" y="2979991"/>
            <a:ext cx="3612515" cy="510540"/>
            <a:chOff x="4709071" y="2979991"/>
            <a:chExt cx="3612515" cy="510540"/>
          </a:xfrm>
        </p:grpSpPr>
        <p:sp>
          <p:nvSpPr>
            <p:cNvPr id="8" name="object 8" descr=""/>
            <p:cNvSpPr/>
            <p:nvPr/>
          </p:nvSpPr>
          <p:spPr>
            <a:xfrm>
              <a:off x="4709071" y="2979991"/>
              <a:ext cx="3612515" cy="510540"/>
            </a:xfrm>
            <a:custGeom>
              <a:avLst/>
              <a:gdLst/>
              <a:ahLst/>
              <a:cxnLst/>
              <a:rect l="l" t="t" r="r" b="b"/>
              <a:pathLst>
                <a:path w="3612515" h="510539">
                  <a:moveTo>
                    <a:pt x="3604856" y="0"/>
                  </a:moveTo>
                  <a:lnTo>
                    <a:pt x="7348" y="0"/>
                  </a:lnTo>
                  <a:lnTo>
                    <a:pt x="0" y="7353"/>
                  </a:lnTo>
                  <a:lnTo>
                    <a:pt x="0" y="16281"/>
                  </a:lnTo>
                  <a:lnTo>
                    <a:pt x="0" y="502983"/>
                  </a:lnTo>
                  <a:lnTo>
                    <a:pt x="7348" y="510336"/>
                  </a:lnTo>
                  <a:lnTo>
                    <a:pt x="3604856" y="510336"/>
                  </a:lnTo>
                  <a:lnTo>
                    <a:pt x="3612210" y="502983"/>
                  </a:lnTo>
                  <a:lnTo>
                    <a:pt x="3612210" y="7353"/>
                  </a:lnTo>
                  <a:lnTo>
                    <a:pt x="3604856" y="0"/>
                  </a:lnTo>
                  <a:close/>
                </a:path>
              </a:pathLst>
            </a:custGeom>
            <a:solidFill>
              <a:srgbClr val="FBF1B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17567" y="3130156"/>
              <a:ext cx="135657" cy="108496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4696371" y="2311857"/>
            <a:ext cx="3600450" cy="1062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3156B8"/>
                </a:solidFill>
                <a:latin typeface="Arial"/>
                <a:cs typeface="Arial"/>
              </a:rPr>
              <a:t>Kerusakan</a:t>
            </a:r>
            <a:r>
              <a:rPr dirty="0" sz="1050" spc="-30">
                <a:solidFill>
                  <a:srgbClr val="3156B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156B8"/>
                </a:solidFill>
                <a:latin typeface="Arial"/>
                <a:cs typeface="Arial"/>
              </a:rPr>
              <a:t>yang</a:t>
            </a:r>
            <a:r>
              <a:rPr dirty="0" sz="1050" spc="-30">
                <a:solidFill>
                  <a:srgbClr val="3156B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156B8"/>
                </a:solidFill>
                <a:latin typeface="Arial"/>
                <a:cs typeface="Arial"/>
              </a:rPr>
              <a:t>Bersifat</a:t>
            </a:r>
            <a:r>
              <a:rPr dirty="0" sz="1050" spc="-25">
                <a:solidFill>
                  <a:srgbClr val="3156B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156B8"/>
                </a:solidFill>
                <a:latin typeface="Arial"/>
                <a:cs typeface="Arial"/>
              </a:rPr>
              <a:t>Permanen</a:t>
            </a:r>
            <a:endParaRPr sz="1050">
              <a:latin typeface="Arial"/>
              <a:cs typeface="Arial"/>
            </a:endParaRPr>
          </a:p>
          <a:p>
            <a:pPr marL="12700" marR="5080">
              <a:lnSpc>
                <a:spcPct val="118000"/>
              </a:lnSpc>
              <a:spcBef>
                <a:spcPts val="550"/>
              </a:spcBef>
            </a:pPr>
            <a:r>
              <a:rPr dirty="0" sz="850">
                <a:solidFill>
                  <a:srgbClr val="14203E"/>
                </a:solidFill>
                <a:latin typeface="Arial"/>
                <a:cs typeface="Arial"/>
              </a:rPr>
              <a:t>Zat</a:t>
            </a:r>
            <a:r>
              <a:rPr dirty="0" sz="85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4203E"/>
                </a:solidFill>
                <a:latin typeface="Arial"/>
                <a:cs typeface="Arial"/>
              </a:rPr>
              <a:t>adiktif</a:t>
            </a:r>
            <a:r>
              <a:rPr dirty="0" sz="850" spc="-2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4203E"/>
                </a:solidFill>
                <a:latin typeface="Arial"/>
                <a:cs typeface="Arial"/>
              </a:rPr>
              <a:t>tidak</a:t>
            </a:r>
            <a:r>
              <a:rPr dirty="0" sz="850" spc="-2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4203E"/>
                </a:solidFill>
                <a:latin typeface="Arial"/>
                <a:cs typeface="Arial"/>
              </a:rPr>
              <a:t>hanya</a:t>
            </a:r>
            <a:r>
              <a:rPr dirty="0" sz="85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14203E"/>
                </a:solidFill>
                <a:latin typeface="Arial"/>
                <a:cs typeface="Arial"/>
              </a:rPr>
              <a:t>mengubah</a:t>
            </a:r>
            <a:r>
              <a:rPr dirty="0" sz="850" spc="-2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14203E"/>
                </a:solidFill>
                <a:latin typeface="Arial"/>
                <a:cs typeface="Arial"/>
              </a:rPr>
              <a:t>perilaku</a:t>
            </a:r>
            <a:r>
              <a:rPr dirty="0" sz="850" spc="-2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4203E"/>
                </a:solidFill>
                <a:latin typeface="Arial"/>
                <a:cs typeface="Arial"/>
              </a:rPr>
              <a:t>—</a:t>
            </a:r>
            <a:r>
              <a:rPr dirty="0" sz="85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4203E"/>
                </a:solidFill>
                <a:latin typeface="Arial"/>
                <a:cs typeface="Arial"/>
              </a:rPr>
              <a:t>ia</a:t>
            </a:r>
            <a:r>
              <a:rPr dirty="0" sz="850" spc="-2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4203E"/>
                </a:solidFill>
                <a:latin typeface="Arial"/>
                <a:cs typeface="Arial"/>
              </a:rPr>
              <a:t>merusak</a:t>
            </a:r>
            <a:r>
              <a:rPr dirty="0" sz="850" spc="-2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4203E"/>
                </a:solidFill>
                <a:latin typeface="Arial"/>
                <a:cs typeface="Arial"/>
              </a:rPr>
              <a:t>organ</a:t>
            </a:r>
            <a:r>
              <a:rPr dirty="0" sz="85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4203E"/>
                </a:solidFill>
                <a:latin typeface="Arial"/>
                <a:cs typeface="Arial"/>
              </a:rPr>
              <a:t>vital</a:t>
            </a:r>
            <a:r>
              <a:rPr dirty="0" sz="850" spc="-2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14203E"/>
                </a:solidFill>
                <a:latin typeface="Arial"/>
                <a:cs typeface="Arial"/>
              </a:rPr>
              <a:t>secara </a:t>
            </a:r>
            <a:r>
              <a:rPr dirty="0" sz="850">
                <a:solidFill>
                  <a:srgbClr val="14203E"/>
                </a:solidFill>
                <a:latin typeface="Arial"/>
                <a:cs typeface="Arial"/>
              </a:rPr>
              <a:t>biologis</a:t>
            </a:r>
            <a:r>
              <a:rPr dirty="0" sz="85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4203E"/>
                </a:solidFill>
                <a:latin typeface="Arial"/>
                <a:cs typeface="Arial"/>
              </a:rPr>
              <a:t>dan</a:t>
            </a:r>
            <a:r>
              <a:rPr dirty="0" sz="850" spc="-2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14203E"/>
                </a:solidFill>
                <a:latin typeface="Arial"/>
                <a:cs typeface="Arial"/>
              </a:rPr>
              <a:t>seringkali</a:t>
            </a:r>
            <a:r>
              <a:rPr dirty="0" sz="85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4203E"/>
                </a:solidFill>
                <a:latin typeface="Arial"/>
                <a:cs typeface="Arial"/>
              </a:rPr>
              <a:t>tidak</a:t>
            </a:r>
            <a:r>
              <a:rPr dirty="0" sz="850" spc="-2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4203E"/>
                </a:solidFill>
                <a:latin typeface="Arial"/>
                <a:cs typeface="Arial"/>
              </a:rPr>
              <a:t>dapat</a:t>
            </a:r>
            <a:r>
              <a:rPr dirty="0" sz="850" spc="-2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4203E"/>
                </a:solidFill>
                <a:latin typeface="Arial"/>
                <a:cs typeface="Arial"/>
              </a:rPr>
              <a:t>pulih</a:t>
            </a:r>
            <a:r>
              <a:rPr dirty="0" sz="85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14203E"/>
                </a:solidFill>
                <a:latin typeface="Arial"/>
                <a:cs typeface="Arial"/>
              </a:rPr>
              <a:t>sepenuhnya.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850">
              <a:latin typeface="Arial"/>
              <a:cs typeface="Arial"/>
            </a:endParaRPr>
          </a:p>
          <a:p>
            <a:pPr marL="365125" marR="186055">
              <a:lnSpc>
                <a:spcPct val="118000"/>
              </a:lnSpc>
            </a:pPr>
            <a:r>
              <a:rPr dirty="0" sz="850">
                <a:latin typeface="Arial"/>
                <a:cs typeface="Arial"/>
              </a:rPr>
              <a:t>Setiap</a:t>
            </a:r>
            <a:r>
              <a:rPr dirty="0" sz="850" spc="-35">
                <a:latin typeface="Arial"/>
                <a:cs typeface="Arial"/>
              </a:rPr>
              <a:t> </a:t>
            </a:r>
            <a:r>
              <a:rPr dirty="0" sz="850" spc="-10">
                <a:latin typeface="Arial"/>
                <a:cs typeface="Arial"/>
              </a:rPr>
              <a:t>penggunaan</a:t>
            </a:r>
            <a:r>
              <a:rPr dirty="0" sz="850" spc="-30">
                <a:latin typeface="Arial"/>
                <a:cs typeface="Arial"/>
              </a:rPr>
              <a:t> </a:t>
            </a:r>
            <a:r>
              <a:rPr dirty="0" sz="850" spc="-10">
                <a:latin typeface="Arial"/>
                <a:cs typeface="Arial"/>
              </a:rPr>
              <a:t>narkoba,</a:t>
            </a:r>
            <a:r>
              <a:rPr dirty="0" sz="850" spc="-35">
                <a:latin typeface="Arial"/>
                <a:cs typeface="Arial"/>
              </a:rPr>
              <a:t> </a:t>
            </a:r>
            <a:r>
              <a:rPr dirty="0" sz="850">
                <a:latin typeface="Arial"/>
                <a:cs typeface="Arial"/>
              </a:rPr>
              <a:t>bahkan</a:t>
            </a:r>
            <a:r>
              <a:rPr dirty="0" sz="850" spc="-30">
                <a:latin typeface="Arial"/>
                <a:cs typeface="Arial"/>
              </a:rPr>
              <a:t> </a:t>
            </a:r>
            <a:r>
              <a:rPr dirty="0" sz="850">
                <a:latin typeface="Arial"/>
                <a:cs typeface="Arial"/>
              </a:rPr>
              <a:t>sekali,</a:t>
            </a:r>
            <a:r>
              <a:rPr dirty="0" sz="850" spc="-30">
                <a:latin typeface="Arial"/>
                <a:cs typeface="Arial"/>
              </a:rPr>
              <a:t> </a:t>
            </a:r>
            <a:r>
              <a:rPr dirty="0" sz="850">
                <a:latin typeface="Arial"/>
                <a:cs typeface="Arial"/>
              </a:rPr>
              <a:t>sudah</a:t>
            </a:r>
            <a:r>
              <a:rPr dirty="0" sz="850" spc="-35">
                <a:latin typeface="Arial"/>
                <a:cs typeface="Arial"/>
              </a:rPr>
              <a:t> </a:t>
            </a:r>
            <a:r>
              <a:rPr dirty="0" sz="850">
                <a:latin typeface="Arial"/>
                <a:cs typeface="Arial"/>
              </a:rPr>
              <a:t>cukup</a:t>
            </a:r>
            <a:r>
              <a:rPr dirty="0" sz="850" spc="-30">
                <a:latin typeface="Arial"/>
                <a:cs typeface="Arial"/>
              </a:rPr>
              <a:t> </a:t>
            </a:r>
            <a:r>
              <a:rPr dirty="0" sz="850" spc="-10">
                <a:latin typeface="Arial"/>
                <a:cs typeface="Arial"/>
              </a:rPr>
              <a:t>untuk memulai</a:t>
            </a:r>
            <a:r>
              <a:rPr dirty="0" sz="850" spc="-20">
                <a:latin typeface="Arial"/>
                <a:cs typeface="Arial"/>
              </a:rPr>
              <a:t> </a:t>
            </a:r>
            <a:r>
              <a:rPr dirty="0" sz="850" spc="-10">
                <a:latin typeface="Arial"/>
                <a:cs typeface="Arial"/>
              </a:rPr>
              <a:t>kerusakan</a:t>
            </a:r>
            <a:r>
              <a:rPr dirty="0" sz="850" spc="-15">
                <a:latin typeface="Arial"/>
                <a:cs typeface="Arial"/>
              </a:rPr>
              <a:t> </a:t>
            </a:r>
            <a:r>
              <a:rPr dirty="0" sz="850">
                <a:latin typeface="Arial"/>
                <a:cs typeface="Arial"/>
              </a:rPr>
              <a:t>pada</a:t>
            </a:r>
            <a:r>
              <a:rPr dirty="0" sz="850" spc="-15">
                <a:latin typeface="Arial"/>
                <a:cs typeface="Arial"/>
              </a:rPr>
              <a:t> </a:t>
            </a:r>
            <a:r>
              <a:rPr dirty="0" sz="850">
                <a:latin typeface="Arial"/>
                <a:cs typeface="Arial"/>
              </a:rPr>
              <a:t>sistem</a:t>
            </a:r>
            <a:r>
              <a:rPr dirty="0" sz="850" spc="-15">
                <a:latin typeface="Arial"/>
                <a:cs typeface="Arial"/>
              </a:rPr>
              <a:t> </a:t>
            </a:r>
            <a:r>
              <a:rPr dirty="0" sz="850">
                <a:latin typeface="Arial"/>
                <a:cs typeface="Arial"/>
              </a:rPr>
              <a:t>saraf</a:t>
            </a:r>
            <a:r>
              <a:rPr dirty="0" sz="850" spc="-15">
                <a:latin typeface="Arial"/>
                <a:cs typeface="Arial"/>
              </a:rPr>
              <a:t> </a:t>
            </a:r>
            <a:r>
              <a:rPr dirty="0" sz="850" spc="-10">
                <a:latin typeface="Arial"/>
                <a:cs typeface="Arial"/>
              </a:rPr>
              <a:t>pusat.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9181" y="4844491"/>
            <a:ext cx="1071843" cy="256032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3894163" y="514423"/>
            <a:ext cx="1371600" cy="244475"/>
          </a:xfrm>
          <a:custGeom>
            <a:avLst/>
            <a:gdLst/>
            <a:ahLst/>
            <a:cxnLst/>
            <a:rect l="l" t="t" r="r" b="b"/>
            <a:pathLst>
              <a:path w="1371600" h="244475">
                <a:moveTo>
                  <a:pt x="1364322" y="0"/>
                </a:moveTo>
                <a:lnTo>
                  <a:pt x="7198" y="0"/>
                </a:lnTo>
                <a:lnTo>
                  <a:pt x="0" y="7200"/>
                </a:lnTo>
                <a:lnTo>
                  <a:pt x="0" y="15951"/>
                </a:lnTo>
                <a:lnTo>
                  <a:pt x="0" y="237172"/>
                </a:lnTo>
                <a:lnTo>
                  <a:pt x="7198" y="244373"/>
                </a:lnTo>
                <a:lnTo>
                  <a:pt x="1364322" y="244373"/>
                </a:lnTo>
                <a:lnTo>
                  <a:pt x="1371523" y="237172"/>
                </a:lnTo>
                <a:lnTo>
                  <a:pt x="1371523" y="7200"/>
                </a:lnTo>
                <a:lnTo>
                  <a:pt x="1364322" y="0"/>
                </a:lnTo>
                <a:close/>
              </a:path>
            </a:pathLst>
          </a:custGeom>
          <a:solidFill>
            <a:srgbClr val="D6DF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3961155" y="539389"/>
            <a:ext cx="130556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14203E"/>
                </a:solidFill>
                <a:latin typeface="Arial"/>
                <a:cs typeface="Arial"/>
              </a:rPr>
              <a:t>STRATEGI</a:t>
            </a:r>
            <a:r>
              <a:rPr dirty="0" sz="80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14203E"/>
                </a:solidFill>
                <a:latin typeface="Arial"/>
                <a:cs typeface="Arial"/>
              </a:rPr>
              <a:t>PROTEKSI</a:t>
            </a:r>
            <a:r>
              <a:rPr dirty="0" sz="800" spc="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800" spc="-20">
                <a:solidFill>
                  <a:srgbClr val="14203E"/>
                </a:solidFill>
                <a:latin typeface="Arial"/>
                <a:cs typeface="Arial"/>
              </a:rPr>
              <a:t>DIRI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ts val="3240"/>
              </a:lnSpc>
              <a:spcBef>
                <a:spcPts val="85"/>
              </a:spcBef>
            </a:pPr>
            <a:r>
              <a:rPr dirty="0"/>
              <a:t>Benteng</a:t>
            </a:r>
            <a:r>
              <a:rPr dirty="0" spc="-145"/>
              <a:t> </a:t>
            </a:r>
            <a:r>
              <a:rPr dirty="0"/>
              <a:t>Pertahanan</a:t>
            </a:r>
            <a:r>
              <a:rPr dirty="0" spc="-145"/>
              <a:t> </a:t>
            </a:r>
            <a:r>
              <a:rPr dirty="0" spc="-10"/>
              <a:t>Terbaik: </a:t>
            </a:r>
            <a:r>
              <a:rPr dirty="0"/>
              <a:t>Katakan</a:t>
            </a:r>
            <a:r>
              <a:rPr dirty="0" spc="-120"/>
              <a:t> </a:t>
            </a:r>
            <a:r>
              <a:rPr dirty="0" spc="-10"/>
              <a:t>'TIDAK'!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3881463" y="1766455"/>
            <a:ext cx="4697730" cy="419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9000"/>
              </a:lnSpc>
              <a:spcBef>
                <a:spcPts val="100"/>
              </a:spcBef>
            </a:pP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Hukum</a:t>
            </a:r>
            <a:r>
              <a:rPr dirty="0" sz="1000" spc="-2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dan</a:t>
            </a:r>
            <a:r>
              <a:rPr dirty="0" sz="1000" spc="-1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aturan</a:t>
            </a:r>
            <a:r>
              <a:rPr dirty="0" sz="1000" spc="-1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bukan</a:t>
            </a:r>
            <a:r>
              <a:rPr dirty="0" sz="1000" spc="-2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benteng</a:t>
            </a:r>
            <a:r>
              <a:rPr dirty="0" sz="1000" spc="-1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terbaik.</a:t>
            </a:r>
            <a:r>
              <a:rPr dirty="0" sz="1000" spc="-1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Ketegasan</a:t>
            </a:r>
            <a:r>
              <a:rPr dirty="0" sz="1000" spc="-2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dari</a:t>
            </a:r>
            <a:r>
              <a:rPr dirty="0" sz="1000" spc="-1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dalam</a:t>
            </a:r>
            <a:r>
              <a:rPr dirty="0" sz="1000" spc="-1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diri</a:t>
            </a:r>
            <a:r>
              <a:rPr dirty="0" sz="1000" spc="-1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sendiri</a:t>
            </a:r>
            <a:r>
              <a:rPr dirty="0" sz="1000" spc="-2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14203E"/>
                </a:solidFill>
                <a:latin typeface="Arial"/>
                <a:cs typeface="Arial"/>
              </a:rPr>
              <a:t>adalah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perlindungan</a:t>
            </a:r>
            <a:r>
              <a:rPr dirty="0" sz="1000" spc="-4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paling</a:t>
            </a:r>
            <a:r>
              <a:rPr dirty="0" sz="1000" spc="-4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14203E"/>
                </a:solidFill>
                <a:latin typeface="Arial"/>
                <a:cs typeface="Arial"/>
              </a:rPr>
              <a:t>ampuh.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3894163" y="2378125"/>
            <a:ext cx="2330450" cy="1166495"/>
          </a:xfrm>
          <a:custGeom>
            <a:avLst/>
            <a:gdLst/>
            <a:ahLst/>
            <a:cxnLst/>
            <a:rect l="l" t="t" r="r" b="b"/>
            <a:pathLst>
              <a:path w="2330450" h="1166495">
                <a:moveTo>
                  <a:pt x="2310117" y="0"/>
                </a:moveTo>
                <a:lnTo>
                  <a:pt x="19940" y="0"/>
                </a:lnTo>
                <a:lnTo>
                  <a:pt x="12209" y="1577"/>
                </a:lnTo>
                <a:lnTo>
                  <a:pt x="5868" y="5868"/>
                </a:lnTo>
                <a:lnTo>
                  <a:pt x="1577" y="12210"/>
                </a:lnTo>
                <a:lnTo>
                  <a:pt x="0" y="19938"/>
                </a:lnTo>
                <a:lnTo>
                  <a:pt x="0" y="1146200"/>
                </a:lnTo>
                <a:lnTo>
                  <a:pt x="1577" y="1153928"/>
                </a:lnTo>
                <a:lnTo>
                  <a:pt x="5868" y="1160270"/>
                </a:lnTo>
                <a:lnTo>
                  <a:pt x="12209" y="1164561"/>
                </a:lnTo>
                <a:lnTo>
                  <a:pt x="19940" y="1166139"/>
                </a:lnTo>
                <a:lnTo>
                  <a:pt x="2310117" y="1166139"/>
                </a:lnTo>
                <a:lnTo>
                  <a:pt x="2317845" y="1164561"/>
                </a:lnTo>
                <a:lnTo>
                  <a:pt x="2324187" y="1160270"/>
                </a:lnTo>
                <a:lnTo>
                  <a:pt x="2328478" y="1153928"/>
                </a:lnTo>
                <a:lnTo>
                  <a:pt x="2330056" y="1146200"/>
                </a:lnTo>
                <a:lnTo>
                  <a:pt x="2330056" y="19938"/>
                </a:lnTo>
                <a:lnTo>
                  <a:pt x="2328478" y="12210"/>
                </a:lnTo>
                <a:lnTo>
                  <a:pt x="2324187" y="5868"/>
                </a:lnTo>
                <a:lnTo>
                  <a:pt x="2317845" y="1577"/>
                </a:lnTo>
                <a:lnTo>
                  <a:pt x="2310117" y="0"/>
                </a:lnTo>
                <a:close/>
              </a:path>
            </a:pathLst>
          </a:custGeom>
          <a:solidFill>
            <a:srgbClr val="E9EB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4014368" y="2384238"/>
            <a:ext cx="2037080" cy="965200"/>
          </a:xfrm>
          <a:prstGeom prst="rect">
            <a:avLst/>
          </a:prstGeom>
        </p:spPr>
        <p:txBody>
          <a:bodyPr wrap="square" lIns="0" tIns="12318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dirty="0" sz="1300">
                <a:solidFill>
                  <a:srgbClr val="14203E"/>
                </a:solidFill>
                <a:latin typeface="Arial"/>
                <a:cs typeface="Arial"/>
              </a:rPr>
              <a:t>Bangun</a:t>
            </a:r>
            <a:r>
              <a:rPr dirty="0" sz="1300" spc="-6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14203E"/>
                </a:solidFill>
                <a:latin typeface="Arial"/>
                <a:cs typeface="Arial"/>
              </a:rPr>
              <a:t>Asertivitas</a:t>
            </a:r>
            <a:endParaRPr sz="1300">
              <a:latin typeface="Arial"/>
              <a:cs typeface="Arial"/>
            </a:endParaRPr>
          </a:p>
          <a:p>
            <a:pPr marL="12700" marR="5080">
              <a:lnSpc>
                <a:spcPct val="129000"/>
              </a:lnSpc>
              <a:spcBef>
                <a:spcPts val="320"/>
              </a:spcBef>
            </a:pP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Tegas</a:t>
            </a:r>
            <a:r>
              <a:rPr dirty="0" sz="1000" spc="-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namun</a:t>
            </a:r>
            <a:r>
              <a:rPr dirty="0" sz="1000" spc="-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tenang</a:t>
            </a:r>
            <a:r>
              <a:rPr dirty="0" sz="1000" spc="-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— </a:t>
            </a:r>
            <a:r>
              <a:rPr dirty="0" sz="1000" spc="-10">
                <a:solidFill>
                  <a:srgbClr val="14203E"/>
                </a:solidFill>
                <a:latin typeface="Arial"/>
                <a:cs typeface="Arial"/>
              </a:rPr>
              <a:t>sampaikan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penolakan</a:t>
            </a:r>
            <a:r>
              <a:rPr dirty="0" sz="100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dengan</a:t>
            </a:r>
            <a:r>
              <a:rPr dirty="0" sz="1000" spc="-2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percaya</a:t>
            </a:r>
            <a:r>
              <a:rPr dirty="0" sz="1000" spc="-20">
                <a:solidFill>
                  <a:srgbClr val="14203E"/>
                </a:solidFill>
                <a:latin typeface="Arial"/>
                <a:cs typeface="Arial"/>
              </a:rPr>
              <a:t> diri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tanpa</a:t>
            </a:r>
            <a:r>
              <a:rPr dirty="0" sz="1000" spc="-1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emosi</a:t>
            </a:r>
            <a:r>
              <a:rPr dirty="0" sz="1000" spc="-10">
                <a:solidFill>
                  <a:srgbClr val="14203E"/>
                </a:solidFill>
                <a:latin typeface="Arial"/>
                <a:cs typeface="Arial"/>
              </a:rPr>
              <a:t> berlebihan.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6348780" y="2378125"/>
            <a:ext cx="2330450" cy="1166495"/>
          </a:xfrm>
          <a:custGeom>
            <a:avLst/>
            <a:gdLst/>
            <a:ahLst/>
            <a:cxnLst/>
            <a:rect l="l" t="t" r="r" b="b"/>
            <a:pathLst>
              <a:path w="2330450" h="1166495">
                <a:moveTo>
                  <a:pt x="2310117" y="0"/>
                </a:moveTo>
                <a:lnTo>
                  <a:pt x="19940" y="0"/>
                </a:lnTo>
                <a:lnTo>
                  <a:pt x="12209" y="1577"/>
                </a:lnTo>
                <a:lnTo>
                  <a:pt x="5868" y="5868"/>
                </a:lnTo>
                <a:lnTo>
                  <a:pt x="1577" y="12210"/>
                </a:lnTo>
                <a:lnTo>
                  <a:pt x="0" y="19938"/>
                </a:lnTo>
                <a:lnTo>
                  <a:pt x="0" y="1146200"/>
                </a:lnTo>
                <a:lnTo>
                  <a:pt x="1577" y="1153928"/>
                </a:lnTo>
                <a:lnTo>
                  <a:pt x="5868" y="1160270"/>
                </a:lnTo>
                <a:lnTo>
                  <a:pt x="12209" y="1164561"/>
                </a:lnTo>
                <a:lnTo>
                  <a:pt x="19940" y="1166139"/>
                </a:lnTo>
                <a:lnTo>
                  <a:pt x="2310117" y="1166139"/>
                </a:lnTo>
                <a:lnTo>
                  <a:pt x="2317845" y="1164561"/>
                </a:lnTo>
                <a:lnTo>
                  <a:pt x="2324187" y="1160270"/>
                </a:lnTo>
                <a:lnTo>
                  <a:pt x="2328478" y="1153928"/>
                </a:lnTo>
                <a:lnTo>
                  <a:pt x="2330056" y="1146200"/>
                </a:lnTo>
                <a:lnTo>
                  <a:pt x="2330056" y="19938"/>
                </a:lnTo>
                <a:lnTo>
                  <a:pt x="2328478" y="12210"/>
                </a:lnTo>
                <a:lnTo>
                  <a:pt x="2324187" y="5868"/>
                </a:lnTo>
                <a:lnTo>
                  <a:pt x="2317845" y="1577"/>
                </a:lnTo>
                <a:lnTo>
                  <a:pt x="2310117" y="0"/>
                </a:lnTo>
                <a:close/>
              </a:path>
            </a:pathLst>
          </a:custGeom>
          <a:solidFill>
            <a:srgbClr val="E9EB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6468986" y="2384238"/>
            <a:ext cx="2072639" cy="965200"/>
          </a:xfrm>
          <a:prstGeom prst="rect">
            <a:avLst/>
          </a:prstGeom>
        </p:spPr>
        <p:txBody>
          <a:bodyPr wrap="square" lIns="0" tIns="12318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dirty="0" sz="1300">
                <a:solidFill>
                  <a:srgbClr val="14203E"/>
                </a:solidFill>
                <a:latin typeface="Arial"/>
                <a:cs typeface="Arial"/>
              </a:rPr>
              <a:t>Pilih</a:t>
            </a:r>
            <a:r>
              <a:rPr dirty="0" sz="1300" spc="-1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14203E"/>
                </a:solidFill>
                <a:latin typeface="Arial"/>
                <a:cs typeface="Arial"/>
              </a:rPr>
              <a:t>Lingkaran Sehat</a:t>
            </a:r>
            <a:endParaRPr sz="1300">
              <a:latin typeface="Arial"/>
              <a:cs typeface="Arial"/>
            </a:endParaRPr>
          </a:p>
          <a:p>
            <a:pPr marL="12700" marR="5080">
              <a:lnSpc>
                <a:spcPct val="129000"/>
              </a:lnSpc>
              <a:spcBef>
                <a:spcPts val="320"/>
              </a:spcBef>
            </a:pP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Berteman</a:t>
            </a:r>
            <a:r>
              <a:rPr dirty="0" sz="1000" spc="-1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dengan</a:t>
            </a:r>
            <a:r>
              <a:rPr dirty="0" sz="1000" spc="-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14203E"/>
                </a:solidFill>
                <a:latin typeface="Arial"/>
                <a:cs typeface="Arial"/>
              </a:rPr>
              <a:t>orang-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orang</a:t>
            </a:r>
            <a:r>
              <a:rPr dirty="0" sz="1000" spc="-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14203E"/>
                </a:solidFill>
                <a:latin typeface="Arial"/>
                <a:cs typeface="Arial"/>
              </a:rPr>
              <a:t>yang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mendukung</a:t>
            </a:r>
            <a:r>
              <a:rPr dirty="0" sz="1000" spc="-3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hobi</a:t>
            </a:r>
            <a:r>
              <a:rPr dirty="0" sz="1000" spc="-3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positif</a:t>
            </a:r>
            <a:r>
              <a:rPr dirty="0" sz="100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14203E"/>
                </a:solidFill>
                <a:latin typeface="Arial"/>
                <a:cs typeface="Arial"/>
              </a:rPr>
              <a:t>seperti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olahraga</a:t>
            </a:r>
            <a:r>
              <a:rPr dirty="0" sz="1000" spc="-1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dan</a:t>
            </a:r>
            <a:r>
              <a:rPr dirty="0" sz="1000" spc="-1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14203E"/>
                </a:solidFill>
                <a:latin typeface="Arial"/>
                <a:cs typeface="Arial"/>
              </a:rPr>
              <a:t>prestasi.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3894163" y="3668839"/>
            <a:ext cx="4784725" cy="960755"/>
          </a:xfrm>
          <a:custGeom>
            <a:avLst/>
            <a:gdLst/>
            <a:ahLst/>
            <a:cxnLst/>
            <a:rect l="l" t="t" r="r" b="b"/>
            <a:pathLst>
              <a:path w="4784725" h="960754">
                <a:moveTo>
                  <a:pt x="4764747" y="0"/>
                </a:moveTo>
                <a:lnTo>
                  <a:pt x="19932" y="0"/>
                </a:lnTo>
                <a:lnTo>
                  <a:pt x="12205" y="1575"/>
                </a:lnTo>
                <a:lnTo>
                  <a:pt x="5865" y="5864"/>
                </a:lnTo>
                <a:lnTo>
                  <a:pt x="1576" y="12205"/>
                </a:lnTo>
                <a:lnTo>
                  <a:pt x="0" y="19938"/>
                </a:lnTo>
                <a:lnTo>
                  <a:pt x="0" y="940231"/>
                </a:lnTo>
                <a:lnTo>
                  <a:pt x="1576" y="947960"/>
                </a:lnTo>
                <a:lnTo>
                  <a:pt x="5865" y="954301"/>
                </a:lnTo>
                <a:lnTo>
                  <a:pt x="12205" y="958593"/>
                </a:lnTo>
                <a:lnTo>
                  <a:pt x="19932" y="960170"/>
                </a:lnTo>
                <a:lnTo>
                  <a:pt x="4764747" y="960170"/>
                </a:lnTo>
                <a:lnTo>
                  <a:pt x="4772474" y="958593"/>
                </a:lnTo>
                <a:lnTo>
                  <a:pt x="4778811" y="954301"/>
                </a:lnTo>
                <a:lnTo>
                  <a:pt x="4783098" y="947960"/>
                </a:lnTo>
                <a:lnTo>
                  <a:pt x="4784674" y="940231"/>
                </a:lnTo>
                <a:lnTo>
                  <a:pt x="4784674" y="19938"/>
                </a:lnTo>
                <a:lnTo>
                  <a:pt x="4783098" y="12205"/>
                </a:lnTo>
                <a:lnTo>
                  <a:pt x="4778811" y="5864"/>
                </a:lnTo>
                <a:lnTo>
                  <a:pt x="4772474" y="1575"/>
                </a:lnTo>
                <a:lnTo>
                  <a:pt x="4764747" y="0"/>
                </a:lnTo>
                <a:close/>
              </a:path>
            </a:pathLst>
          </a:custGeom>
          <a:solidFill>
            <a:srgbClr val="E9EB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4014368" y="3674952"/>
            <a:ext cx="4541520" cy="768350"/>
          </a:xfrm>
          <a:prstGeom prst="rect">
            <a:avLst/>
          </a:prstGeom>
        </p:spPr>
        <p:txBody>
          <a:bodyPr wrap="square" lIns="0" tIns="12318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dirty="0" sz="1300">
                <a:solidFill>
                  <a:srgbClr val="14203E"/>
                </a:solidFill>
                <a:latin typeface="Arial"/>
                <a:cs typeface="Arial"/>
              </a:rPr>
              <a:t>Kuasai</a:t>
            </a:r>
            <a:r>
              <a:rPr dirty="0" sz="1300" spc="-4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14203E"/>
                </a:solidFill>
                <a:latin typeface="Arial"/>
                <a:cs typeface="Arial"/>
              </a:rPr>
              <a:t>Teknik</a:t>
            </a:r>
            <a:r>
              <a:rPr dirty="0" sz="1300" spc="-4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14203E"/>
                </a:solidFill>
                <a:latin typeface="Arial"/>
                <a:cs typeface="Arial"/>
              </a:rPr>
              <a:t>Menolak</a:t>
            </a:r>
            <a:endParaRPr sz="1300">
              <a:latin typeface="Arial"/>
              <a:cs typeface="Arial"/>
            </a:endParaRPr>
          </a:p>
          <a:p>
            <a:pPr marL="12700" marR="5080">
              <a:lnSpc>
                <a:spcPct val="129000"/>
              </a:lnSpc>
              <a:spcBef>
                <a:spcPts val="320"/>
              </a:spcBef>
            </a:pP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Latih</a:t>
            </a:r>
            <a:r>
              <a:rPr dirty="0" sz="1000" spc="-2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kalimat</a:t>
            </a:r>
            <a:r>
              <a:rPr dirty="0" sz="1000" spc="-2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penolakan</a:t>
            </a:r>
            <a:r>
              <a:rPr dirty="0" sz="1000" spc="-1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yang</a:t>
            </a:r>
            <a:r>
              <a:rPr dirty="0" sz="1000" spc="-2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sopan,</a:t>
            </a:r>
            <a:r>
              <a:rPr dirty="0" sz="1000" spc="-2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jelas,</a:t>
            </a:r>
            <a:r>
              <a:rPr dirty="0" sz="1000" spc="-1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dan</a:t>
            </a:r>
            <a:r>
              <a:rPr dirty="0" sz="1000" spc="-2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tidak</a:t>
            </a:r>
            <a:r>
              <a:rPr dirty="0" sz="1000" spc="-1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memberi</a:t>
            </a:r>
            <a:r>
              <a:rPr dirty="0" sz="1000" spc="-2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ruang</a:t>
            </a:r>
            <a:r>
              <a:rPr dirty="0" sz="1000" spc="-2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untuk</a:t>
            </a:r>
            <a:r>
              <a:rPr dirty="0" sz="1000" spc="-1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14203E"/>
                </a:solidFill>
                <a:latin typeface="Arial"/>
                <a:cs typeface="Arial"/>
              </a:rPr>
              <a:t>bujuk rayu.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9181" y="4844491"/>
            <a:ext cx="1071843" cy="256032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434131" y="346843"/>
            <a:ext cx="1749425" cy="223520"/>
          </a:xfrm>
          <a:custGeom>
            <a:avLst/>
            <a:gdLst/>
            <a:ahLst/>
            <a:cxnLst/>
            <a:rect l="l" t="t" r="r" b="b"/>
            <a:pathLst>
              <a:path w="1749425" h="223520">
                <a:moveTo>
                  <a:pt x="1742681" y="0"/>
                </a:moveTo>
                <a:lnTo>
                  <a:pt x="6719" y="0"/>
                </a:lnTo>
                <a:lnTo>
                  <a:pt x="0" y="6718"/>
                </a:lnTo>
                <a:lnTo>
                  <a:pt x="0" y="14884"/>
                </a:lnTo>
                <a:lnTo>
                  <a:pt x="0" y="216598"/>
                </a:lnTo>
                <a:lnTo>
                  <a:pt x="6719" y="223316"/>
                </a:lnTo>
                <a:lnTo>
                  <a:pt x="1742681" y="223316"/>
                </a:lnTo>
                <a:lnTo>
                  <a:pt x="1749399" y="216598"/>
                </a:lnTo>
                <a:lnTo>
                  <a:pt x="1749399" y="6718"/>
                </a:lnTo>
                <a:lnTo>
                  <a:pt x="1742681" y="0"/>
                </a:lnTo>
                <a:close/>
              </a:path>
            </a:pathLst>
          </a:custGeom>
          <a:solidFill>
            <a:srgbClr val="D6DF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495846" y="369331"/>
            <a:ext cx="1685289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solidFill>
                  <a:srgbClr val="14203E"/>
                </a:solidFill>
                <a:latin typeface="Arial"/>
                <a:cs typeface="Arial"/>
              </a:rPr>
              <a:t>AKTIVITAS</a:t>
            </a:r>
            <a:r>
              <a:rPr dirty="0" sz="750" spc="-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14203E"/>
                </a:solidFill>
                <a:latin typeface="Arial"/>
                <a:cs typeface="Arial"/>
              </a:rPr>
              <a:t>KELOMPOK</a:t>
            </a:r>
            <a:r>
              <a:rPr dirty="0" sz="750">
                <a:solidFill>
                  <a:srgbClr val="14203E"/>
                </a:solidFill>
                <a:latin typeface="Arial"/>
                <a:cs typeface="Arial"/>
              </a:rPr>
              <a:t> · </a:t>
            </a:r>
            <a:r>
              <a:rPr dirty="0" sz="750" spc="-10">
                <a:solidFill>
                  <a:srgbClr val="14203E"/>
                </a:solidFill>
                <a:latin typeface="Arial"/>
                <a:cs typeface="Arial"/>
              </a:rPr>
              <a:t>ROLE-</a:t>
            </a:r>
            <a:r>
              <a:rPr dirty="0" sz="750" spc="-20">
                <a:solidFill>
                  <a:srgbClr val="14203E"/>
                </a:solidFill>
                <a:latin typeface="Arial"/>
                <a:cs typeface="Arial"/>
              </a:rPr>
              <a:t>PLAY</a:t>
            </a:r>
            <a:endParaRPr sz="75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21431" y="594391"/>
            <a:ext cx="636143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/>
              <a:t>Simulasi</a:t>
            </a:r>
            <a:r>
              <a:rPr dirty="0" sz="2400" spc="-95"/>
              <a:t> </a:t>
            </a:r>
            <a:r>
              <a:rPr dirty="0" sz="2400" spc="-10"/>
              <a:t>Menghadapi</a:t>
            </a:r>
            <a:r>
              <a:rPr dirty="0" sz="2400" spc="-90"/>
              <a:t> </a:t>
            </a:r>
            <a:r>
              <a:rPr dirty="0" sz="2400"/>
              <a:t>Tekanan</a:t>
            </a:r>
            <a:r>
              <a:rPr dirty="0" sz="2400" spc="-90"/>
              <a:t> </a:t>
            </a:r>
            <a:r>
              <a:rPr dirty="0" sz="2400"/>
              <a:t>Teman</a:t>
            </a:r>
            <a:r>
              <a:rPr dirty="0" sz="2400" spc="-90"/>
              <a:t> </a:t>
            </a:r>
            <a:r>
              <a:rPr dirty="0" sz="2400" spc="-10"/>
              <a:t>Sebaya</a:t>
            </a:r>
            <a:endParaRPr sz="2400"/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4131" y="1163835"/>
            <a:ext cx="8275739" cy="3632822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454572" y="1433093"/>
            <a:ext cx="3352800" cy="78740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00"/>
              </a:spcBef>
              <a:buChar char="•"/>
              <a:tabLst>
                <a:tab pos="354965" algn="l"/>
              </a:tabLst>
            </a:pP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Bentuk</a:t>
            </a:r>
            <a:r>
              <a:rPr dirty="0" sz="1000" spc="-1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kelompok</a:t>
            </a:r>
            <a:r>
              <a:rPr dirty="0" sz="1000" spc="-1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kecil</a:t>
            </a:r>
            <a:r>
              <a:rPr dirty="0" sz="1000" spc="-1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(4–5</a:t>
            </a:r>
            <a:r>
              <a:rPr dirty="0" sz="1000" spc="-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14203E"/>
                </a:solidFill>
                <a:latin typeface="Arial"/>
                <a:cs typeface="Arial"/>
              </a:rPr>
              <a:t>siswa)</a:t>
            </a:r>
            <a:endParaRPr sz="1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300"/>
              </a:spcBef>
              <a:buChar char="•"/>
              <a:tabLst>
                <a:tab pos="354965" algn="l"/>
              </a:tabLst>
            </a:pP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Tentukan</a:t>
            </a:r>
            <a:r>
              <a:rPr dirty="0" sz="1000" spc="-2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peran:</a:t>
            </a:r>
            <a:r>
              <a:rPr dirty="0" sz="1000" spc="-2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perayu</a:t>
            </a:r>
            <a:r>
              <a:rPr dirty="0" sz="1000" spc="-2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dan</a:t>
            </a:r>
            <a:r>
              <a:rPr dirty="0" sz="1000" spc="-2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14203E"/>
                </a:solidFill>
                <a:latin typeface="Arial"/>
                <a:cs typeface="Arial"/>
              </a:rPr>
              <a:t>penolak</a:t>
            </a:r>
            <a:endParaRPr sz="1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300"/>
              </a:spcBef>
              <a:buChar char="•"/>
              <a:tabLst>
                <a:tab pos="354965" algn="l"/>
              </a:tabLst>
            </a:pP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Simulasikan</a:t>
            </a:r>
            <a:r>
              <a:rPr dirty="0" sz="1000" spc="-3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skenario</a:t>
            </a:r>
            <a:r>
              <a:rPr dirty="0" sz="100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selama</a:t>
            </a:r>
            <a:r>
              <a:rPr dirty="0" sz="100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1–2</a:t>
            </a:r>
            <a:r>
              <a:rPr dirty="0" sz="100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14203E"/>
                </a:solidFill>
                <a:latin typeface="Arial"/>
                <a:cs typeface="Arial"/>
              </a:rPr>
              <a:t>menit</a:t>
            </a:r>
            <a:endParaRPr sz="1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300"/>
              </a:spcBef>
              <a:buChar char="•"/>
              <a:tabLst>
                <a:tab pos="354965" algn="l"/>
              </a:tabLst>
            </a:pP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Praktikkan</a:t>
            </a:r>
            <a:r>
              <a:rPr dirty="0" sz="1000" spc="-3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penolakan</a:t>
            </a:r>
            <a:r>
              <a:rPr dirty="0" sz="100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tegas,</a:t>
            </a:r>
            <a:r>
              <a:rPr dirty="0" sz="1000" spc="-3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cerdas,</a:t>
            </a:r>
            <a:r>
              <a:rPr dirty="0" sz="100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dan</a:t>
            </a:r>
            <a:r>
              <a:rPr dirty="0" sz="1000" spc="-3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percaya</a:t>
            </a:r>
            <a:r>
              <a:rPr dirty="0" sz="100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14203E"/>
                </a:solidFill>
                <a:latin typeface="Arial"/>
                <a:cs typeface="Arial"/>
              </a:rPr>
              <a:t>diri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572737" y="1176746"/>
            <a:ext cx="599694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14203E"/>
                </a:solidFill>
                <a:latin typeface="Arial"/>
                <a:cs typeface="Arial"/>
              </a:rPr>
              <a:t>Si</a:t>
            </a:r>
            <a:r>
              <a:rPr dirty="0" sz="1000" spc="-235">
                <a:solidFill>
                  <a:srgbClr val="14203E"/>
                </a:solidFill>
                <a:latin typeface="Arial"/>
                <a:cs typeface="Arial"/>
              </a:rPr>
              <a:t>m</a:t>
            </a:r>
            <a:r>
              <a:rPr dirty="0" baseline="10683" sz="1950" spc="-232">
                <a:solidFill>
                  <a:srgbClr val="3156B8"/>
                </a:solidFill>
                <a:latin typeface="Arial"/>
                <a:cs typeface="Arial"/>
              </a:rPr>
              <a:t>I</a:t>
            </a:r>
            <a:r>
              <a:rPr dirty="0" sz="1000" spc="-425">
                <a:solidFill>
                  <a:srgbClr val="14203E"/>
                </a:solidFill>
                <a:latin typeface="Arial"/>
                <a:cs typeface="Arial"/>
              </a:rPr>
              <a:t>u</a:t>
            </a:r>
            <a:r>
              <a:rPr dirty="0" baseline="10683" sz="1950" spc="-480">
                <a:solidFill>
                  <a:srgbClr val="3156B8"/>
                </a:solidFill>
                <a:latin typeface="Arial"/>
                <a:cs typeface="Arial"/>
              </a:rPr>
              <a:t>n</a:t>
            </a:r>
            <a:r>
              <a:rPr dirty="0" sz="1000" spc="-15">
                <a:solidFill>
                  <a:srgbClr val="14203E"/>
                </a:solidFill>
                <a:latin typeface="Arial"/>
                <a:cs typeface="Arial"/>
              </a:rPr>
              <a:t>l</a:t>
            </a:r>
            <a:r>
              <a:rPr dirty="0" sz="1000" spc="-480">
                <a:solidFill>
                  <a:srgbClr val="14203E"/>
                </a:solidFill>
                <a:latin typeface="Arial"/>
                <a:cs typeface="Arial"/>
              </a:rPr>
              <a:t>a</a:t>
            </a:r>
            <a:r>
              <a:rPr dirty="0" baseline="10683" sz="1950" spc="-277">
                <a:solidFill>
                  <a:srgbClr val="3156B8"/>
                </a:solidFill>
                <a:latin typeface="Arial"/>
                <a:cs typeface="Arial"/>
              </a:rPr>
              <a:t>s</a:t>
            </a:r>
            <a:r>
              <a:rPr dirty="0" sz="1000" spc="-330">
                <a:solidFill>
                  <a:srgbClr val="14203E"/>
                </a:solidFill>
                <a:latin typeface="Arial"/>
                <a:cs typeface="Arial"/>
              </a:rPr>
              <a:t>s</a:t>
            </a:r>
            <a:r>
              <a:rPr dirty="0" baseline="10683" sz="1950" spc="-75">
                <a:solidFill>
                  <a:srgbClr val="3156B8"/>
                </a:solidFill>
                <a:latin typeface="Arial"/>
                <a:cs typeface="Arial"/>
              </a:rPr>
              <a:t>t</a:t>
            </a:r>
            <a:r>
              <a:rPr dirty="0" sz="1000" spc="-195">
                <a:solidFill>
                  <a:srgbClr val="14203E"/>
                </a:solidFill>
                <a:latin typeface="Arial"/>
                <a:cs typeface="Arial"/>
              </a:rPr>
              <a:t>i</a:t>
            </a:r>
            <a:r>
              <a:rPr dirty="0" baseline="10683" sz="1950" spc="-22">
                <a:solidFill>
                  <a:srgbClr val="3156B8"/>
                </a:solidFill>
                <a:latin typeface="Arial"/>
                <a:cs typeface="Arial"/>
              </a:rPr>
              <a:t>r</a:t>
            </a:r>
            <a:r>
              <a:rPr dirty="0" baseline="10683" sz="1950" spc="-1064">
                <a:solidFill>
                  <a:srgbClr val="3156B8"/>
                </a:solidFill>
                <a:latin typeface="Arial"/>
                <a:cs typeface="Arial"/>
              </a:rPr>
              <a:t>u</a:t>
            </a:r>
            <a:r>
              <a:rPr dirty="0" sz="1000" spc="-15">
                <a:solidFill>
                  <a:srgbClr val="14203E"/>
                </a:solidFill>
                <a:latin typeface="Arial"/>
                <a:cs typeface="Arial"/>
              </a:rPr>
              <a:t>i</a:t>
            </a:r>
            <a:r>
              <a:rPr dirty="0" sz="1000" spc="-90">
                <a:solidFill>
                  <a:srgbClr val="14203E"/>
                </a:solidFill>
                <a:latin typeface="Arial"/>
                <a:cs typeface="Arial"/>
              </a:rPr>
              <a:t>n</a:t>
            </a:r>
            <a:r>
              <a:rPr dirty="0" baseline="10683" sz="1950" spc="-862">
                <a:solidFill>
                  <a:srgbClr val="3156B8"/>
                </a:solidFill>
                <a:latin typeface="Arial"/>
                <a:cs typeface="Arial"/>
              </a:rPr>
              <a:t>k</a:t>
            </a:r>
            <a:r>
              <a:rPr dirty="0" sz="1000" spc="-5">
                <a:solidFill>
                  <a:srgbClr val="14203E"/>
                </a:solidFill>
                <a:latin typeface="Arial"/>
                <a:cs typeface="Arial"/>
              </a:rPr>
              <a:t>i</a:t>
            </a:r>
            <a:r>
              <a:rPr dirty="0" sz="1000" spc="3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 spc="-785">
                <a:solidFill>
                  <a:srgbClr val="14203E"/>
                </a:solidFill>
                <a:latin typeface="Arial"/>
                <a:cs typeface="Arial"/>
              </a:rPr>
              <a:t>m</a:t>
            </a:r>
            <a:r>
              <a:rPr dirty="0" baseline="10683" sz="1950" spc="-15">
                <a:solidFill>
                  <a:srgbClr val="3156B8"/>
                </a:solidFill>
                <a:latin typeface="Arial"/>
                <a:cs typeface="Arial"/>
              </a:rPr>
              <a:t>s</a:t>
            </a:r>
            <a:r>
              <a:rPr dirty="0" baseline="10683" sz="1950" spc="-270">
                <a:solidFill>
                  <a:srgbClr val="3156B8"/>
                </a:solidFill>
                <a:latin typeface="Arial"/>
                <a:cs typeface="Arial"/>
              </a:rPr>
              <a:t>i</a:t>
            </a:r>
            <a:r>
              <a:rPr dirty="0" sz="1000" spc="-30">
                <a:solidFill>
                  <a:srgbClr val="14203E"/>
                </a:solidFill>
                <a:latin typeface="Arial"/>
                <a:cs typeface="Arial"/>
              </a:rPr>
              <a:t>e</a:t>
            </a:r>
            <a:r>
              <a:rPr dirty="0" baseline="10683" sz="1950" spc="-1275">
                <a:solidFill>
                  <a:srgbClr val="3156B8"/>
                </a:solidFill>
                <a:latin typeface="Arial"/>
                <a:cs typeface="Arial"/>
              </a:rPr>
              <a:t>A</a:t>
            </a:r>
            <a:r>
              <a:rPr dirty="0" sz="1000" spc="-15">
                <a:solidFill>
                  <a:srgbClr val="14203E"/>
                </a:solidFill>
                <a:latin typeface="Arial"/>
                <a:cs typeface="Arial"/>
              </a:rPr>
              <a:t>l</a:t>
            </a:r>
            <a:r>
              <a:rPr dirty="0" sz="1000" spc="-10">
                <a:solidFill>
                  <a:srgbClr val="14203E"/>
                </a:solidFill>
                <a:latin typeface="Arial"/>
                <a:cs typeface="Arial"/>
              </a:rPr>
              <a:t>a</a:t>
            </a:r>
            <a:r>
              <a:rPr dirty="0" sz="1000" spc="-220">
                <a:solidFill>
                  <a:srgbClr val="14203E"/>
                </a:solidFill>
                <a:latin typeface="Arial"/>
                <a:cs typeface="Arial"/>
              </a:rPr>
              <a:t>t</a:t>
            </a:r>
            <a:r>
              <a:rPr dirty="0" baseline="10683" sz="1950" spc="-667">
                <a:solidFill>
                  <a:srgbClr val="3156B8"/>
                </a:solidFill>
                <a:latin typeface="Arial"/>
                <a:cs typeface="Arial"/>
              </a:rPr>
              <a:t>k</a:t>
            </a:r>
            <a:r>
              <a:rPr dirty="0" sz="1000" spc="-15">
                <a:solidFill>
                  <a:srgbClr val="14203E"/>
                </a:solidFill>
                <a:latin typeface="Arial"/>
                <a:cs typeface="Arial"/>
              </a:rPr>
              <a:t>i</a:t>
            </a:r>
            <a:r>
              <a:rPr dirty="0" sz="1000" spc="-350">
                <a:solidFill>
                  <a:srgbClr val="14203E"/>
                </a:solidFill>
                <a:latin typeface="Arial"/>
                <a:cs typeface="Arial"/>
              </a:rPr>
              <a:t>h</a:t>
            </a:r>
            <a:r>
              <a:rPr dirty="0" baseline="10683" sz="1950" spc="-7">
                <a:solidFill>
                  <a:srgbClr val="3156B8"/>
                </a:solidFill>
                <a:latin typeface="Arial"/>
                <a:cs typeface="Arial"/>
              </a:rPr>
              <a:t>t</a:t>
            </a:r>
            <a:r>
              <a:rPr dirty="0" baseline="10683" sz="1950" spc="-60">
                <a:solidFill>
                  <a:srgbClr val="3156B8"/>
                </a:solidFill>
                <a:latin typeface="Arial"/>
                <a:cs typeface="Arial"/>
              </a:rPr>
              <a:t>i</a:t>
            </a:r>
            <a:r>
              <a:rPr dirty="0" sz="1000" spc="-475">
                <a:solidFill>
                  <a:srgbClr val="14203E"/>
                </a:solidFill>
                <a:latin typeface="Arial"/>
                <a:cs typeface="Arial"/>
              </a:rPr>
              <a:t>k</a:t>
            </a:r>
            <a:r>
              <a:rPr dirty="0" baseline="10683" sz="1950" spc="-284">
                <a:solidFill>
                  <a:srgbClr val="3156B8"/>
                </a:solidFill>
                <a:latin typeface="Arial"/>
                <a:cs typeface="Arial"/>
              </a:rPr>
              <a:t>v</a:t>
            </a:r>
            <a:r>
              <a:rPr dirty="0" sz="1000" spc="-385">
                <a:solidFill>
                  <a:srgbClr val="14203E"/>
                </a:solidFill>
                <a:latin typeface="Arial"/>
                <a:cs typeface="Arial"/>
              </a:rPr>
              <a:t>e</a:t>
            </a:r>
            <a:r>
              <a:rPr dirty="0" baseline="10683" sz="1950" spc="-15">
                <a:solidFill>
                  <a:srgbClr val="3156B8"/>
                </a:solidFill>
                <a:latin typeface="Arial"/>
                <a:cs typeface="Arial"/>
              </a:rPr>
              <a:t>i</a:t>
            </a:r>
            <a:r>
              <a:rPr dirty="0" baseline="10683" sz="1950" spc="-427">
                <a:solidFill>
                  <a:srgbClr val="3156B8"/>
                </a:solidFill>
                <a:latin typeface="Arial"/>
                <a:cs typeface="Arial"/>
              </a:rPr>
              <a:t>t</a:t>
            </a:r>
            <a:r>
              <a:rPr dirty="0" sz="1000" spc="-580">
                <a:solidFill>
                  <a:srgbClr val="14203E"/>
                </a:solidFill>
                <a:latin typeface="Arial"/>
                <a:cs typeface="Arial"/>
              </a:rPr>
              <a:t>m</a:t>
            </a:r>
            <a:r>
              <a:rPr dirty="0" baseline="10683" sz="1950" spc="-262">
                <a:solidFill>
                  <a:srgbClr val="3156B8"/>
                </a:solidFill>
                <a:latin typeface="Arial"/>
                <a:cs typeface="Arial"/>
              </a:rPr>
              <a:t>a</a:t>
            </a:r>
            <a:r>
              <a:rPr dirty="0" sz="1000" spc="-400">
                <a:solidFill>
                  <a:srgbClr val="14203E"/>
                </a:solidFill>
                <a:latin typeface="Arial"/>
                <a:cs typeface="Arial"/>
              </a:rPr>
              <a:t>a</a:t>
            </a:r>
            <a:r>
              <a:rPr dirty="0" baseline="10683" sz="1950" spc="-397">
                <a:solidFill>
                  <a:srgbClr val="3156B8"/>
                </a:solidFill>
                <a:latin typeface="Arial"/>
                <a:cs typeface="Arial"/>
              </a:rPr>
              <a:t>s</a:t>
            </a:r>
            <a:r>
              <a:rPr dirty="0" sz="1000" spc="-15">
                <a:solidFill>
                  <a:srgbClr val="14203E"/>
                </a:solidFill>
                <a:latin typeface="Arial"/>
                <a:cs typeface="Arial"/>
              </a:rPr>
              <a:t>m</a:t>
            </a:r>
            <a:r>
              <a:rPr dirty="0" sz="1000" spc="-10">
                <a:solidFill>
                  <a:srgbClr val="14203E"/>
                </a:solidFill>
                <a:latin typeface="Arial"/>
                <a:cs typeface="Arial"/>
              </a:rPr>
              <a:t>pua</a:t>
            </a:r>
            <a:r>
              <a:rPr dirty="0" sz="1000" spc="-5">
                <a:solidFill>
                  <a:srgbClr val="14203E"/>
                </a:solidFill>
                <a:latin typeface="Arial"/>
                <a:cs typeface="Arial"/>
              </a:rPr>
              <a:t>n</a:t>
            </a:r>
            <a:r>
              <a:rPr dirty="0" sz="1000" spc="3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asertif</a:t>
            </a:r>
            <a:r>
              <a:rPr dirty="0" sz="1000" spc="3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siswa</a:t>
            </a:r>
            <a:r>
              <a:rPr dirty="0" sz="1000" spc="3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secara</a:t>
            </a:r>
            <a:r>
              <a:rPr dirty="0" sz="1000" spc="3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langsung</a:t>
            </a:r>
            <a:r>
              <a:rPr dirty="0" sz="1000" spc="3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dan</a:t>
            </a:r>
            <a:r>
              <a:rPr dirty="0" sz="1000" spc="3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bermakna</a:t>
            </a:r>
            <a:r>
              <a:rPr dirty="0" sz="1000" spc="3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 spc="-545">
                <a:solidFill>
                  <a:srgbClr val="14203E"/>
                </a:solidFill>
                <a:latin typeface="Arial"/>
                <a:cs typeface="Arial"/>
              </a:rPr>
              <a:t>m</a:t>
            </a:r>
            <a:r>
              <a:rPr dirty="0" baseline="10683" sz="1950" spc="-525">
                <a:solidFill>
                  <a:srgbClr val="3156B8"/>
                </a:solidFill>
                <a:latin typeface="Arial"/>
                <a:cs typeface="Arial"/>
              </a:rPr>
              <a:t>S</a:t>
            </a:r>
            <a:r>
              <a:rPr dirty="0" sz="1000" spc="-225">
                <a:solidFill>
                  <a:srgbClr val="14203E"/>
                </a:solidFill>
                <a:latin typeface="Arial"/>
                <a:cs typeface="Arial"/>
              </a:rPr>
              <a:t>e</a:t>
            </a:r>
            <a:r>
              <a:rPr dirty="0" baseline="10683" sz="1950" spc="-660">
                <a:solidFill>
                  <a:srgbClr val="3156B8"/>
                </a:solidFill>
                <a:latin typeface="Arial"/>
                <a:cs typeface="Arial"/>
              </a:rPr>
              <a:t>k</a:t>
            </a:r>
            <a:r>
              <a:rPr dirty="0" sz="1000" spc="-15">
                <a:solidFill>
                  <a:srgbClr val="14203E"/>
                </a:solidFill>
                <a:latin typeface="Arial"/>
                <a:cs typeface="Arial"/>
              </a:rPr>
              <a:t>l</a:t>
            </a:r>
            <a:r>
              <a:rPr dirty="0" sz="1000" spc="-350">
                <a:solidFill>
                  <a:srgbClr val="14203E"/>
                </a:solidFill>
                <a:latin typeface="Arial"/>
                <a:cs typeface="Arial"/>
              </a:rPr>
              <a:t>a</a:t>
            </a:r>
            <a:r>
              <a:rPr dirty="0" baseline="10683" sz="1950" spc="-585">
                <a:solidFill>
                  <a:srgbClr val="3156B8"/>
                </a:solidFill>
                <a:latin typeface="Arial"/>
                <a:cs typeface="Arial"/>
              </a:rPr>
              <a:t>e</a:t>
            </a:r>
            <a:r>
              <a:rPr dirty="0" sz="1000" spc="-15">
                <a:solidFill>
                  <a:srgbClr val="14203E"/>
                </a:solidFill>
                <a:latin typeface="Arial"/>
                <a:cs typeface="Arial"/>
              </a:rPr>
              <a:t>l</a:t>
            </a:r>
            <a:r>
              <a:rPr dirty="0" sz="1000" spc="-405">
                <a:solidFill>
                  <a:srgbClr val="14203E"/>
                </a:solidFill>
                <a:latin typeface="Arial"/>
                <a:cs typeface="Arial"/>
              </a:rPr>
              <a:t>u</a:t>
            </a:r>
            <a:r>
              <a:rPr dirty="0" baseline="10683" sz="1950" spc="-502">
                <a:solidFill>
                  <a:srgbClr val="3156B8"/>
                </a:solidFill>
                <a:latin typeface="Arial"/>
                <a:cs typeface="Arial"/>
              </a:rPr>
              <a:t>n</a:t>
            </a:r>
            <a:r>
              <a:rPr dirty="0" sz="1000" spc="-5">
                <a:solidFill>
                  <a:srgbClr val="14203E"/>
                </a:solidFill>
                <a:latin typeface="Arial"/>
                <a:cs typeface="Arial"/>
              </a:rPr>
              <a:t>i</a:t>
            </a:r>
            <a:r>
              <a:rPr dirty="0" sz="1000" spc="-17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baseline="10683" sz="1950" spc="-839">
                <a:solidFill>
                  <a:srgbClr val="3156B8"/>
                </a:solidFill>
                <a:latin typeface="Arial"/>
                <a:cs typeface="Arial"/>
              </a:rPr>
              <a:t>a</a:t>
            </a:r>
            <a:r>
              <a:rPr dirty="0" sz="1000" spc="-10">
                <a:solidFill>
                  <a:srgbClr val="14203E"/>
                </a:solidFill>
                <a:latin typeface="Arial"/>
                <a:cs typeface="Arial"/>
              </a:rPr>
              <a:t>p</a:t>
            </a:r>
            <a:r>
              <a:rPr dirty="0" baseline="10683" sz="1950" spc="-652">
                <a:solidFill>
                  <a:srgbClr val="3156B8"/>
                </a:solidFill>
                <a:latin typeface="Arial"/>
                <a:cs typeface="Arial"/>
              </a:rPr>
              <a:t>r</a:t>
            </a:r>
            <a:r>
              <a:rPr dirty="0" sz="1000" spc="-135">
                <a:solidFill>
                  <a:srgbClr val="14203E"/>
                </a:solidFill>
                <a:latin typeface="Arial"/>
                <a:cs typeface="Arial"/>
              </a:rPr>
              <a:t>e</a:t>
            </a:r>
            <a:r>
              <a:rPr dirty="0" baseline="10683" sz="1950" spc="-240">
                <a:solidFill>
                  <a:srgbClr val="3156B8"/>
                </a:solidFill>
                <a:latin typeface="Arial"/>
                <a:cs typeface="Arial"/>
              </a:rPr>
              <a:t>i</a:t>
            </a:r>
            <a:r>
              <a:rPr dirty="0" sz="1000" spc="-405">
                <a:solidFill>
                  <a:srgbClr val="14203E"/>
                </a:solidFill>
                <a:latin typeface="Arial"/>
                <a:cs typeface="Arial"/>
              </a:rPr>
              <a:t>n</a:t>
            </a:r>
            <a:r>
              <a:rPr dirty="0" baseline="10683" sz="1950" spc="-494">
                <a:solidFill>
                  <a:srgbClr val="3156B8"/>
                </a:solidFill>
                <a:latin typeface="Arial"/>
                <a:cs typeface="Arial"/>
              </a:rPr>
              <a:t>o</a:t>
            </a:r>
            <a:r>
              <a:rPr dirty="0" sz="1000" spc="-5">
                <a:solidFill>
                  <a:srgbClr val="14203E"/>
                </a:solidFill>
                <a:latin typeface="Arial"/>
                <a:cs typeface="Arial"/>
              </a:rPr>
              <a:t>g</a:t>
            </a:r>
            <a:r>
              <a:rPr dirty="0" sz="1000" spc="-430">
                <a:solidFill>
                  <a:srgbClr val="14203E"/>
                </a:solidFill>
                <a:latin typeface="Arial"/>
                <a:cs typeface="Arial"/>
              </a:rPr>
              <a:t>a</a:t>
            </a:r>
            <a:r>
              <a:rPr dirty="0" baseline="10683" sz="1950" spc="-660">
                <a:solidFill>
                  <a:srgbClr val="3156B8"/>
                </a:solidFill>
                <a:latin typeface="Arial"/>
                <a:cs typeface="Arial"/>
              </a:rPr>
              <a:t>S</a:t>
            </a:r>
            <a:r>
              <a:rPr dirty="0" sz="1000" spc="-10">
                <a:solidFill>
                  <a:srgbClr val="14203E"/>
                </a:solidFill>
                <a:latin typeface="Arial"/>
                <a:cs typeface="Arial"/>
              </a:rPr>
              <a:t>l</a:t>
            </a:r>
            <a:r>
              <a:rPr dirty="0" sz="1000" spc="-340">
                <a:solidFill>
                  <a:srgbClr val="14203E"/>
                </a:solidFill>
                <a:latin typeface="Arial"/>
                <a:cs typeface="Arial"/>
              </a:rPr>
              <a:t>a</a:t>
            </a:r>
            <a:r>
              <a:rPr dirty="0" baseline="10683" sz="1950" spc="-7">
                <a:solidFill>
                  <a:srgbClr val="3156B8"/>
                </a:solidFill>
                <a:latin typeface="Arial"/>
                <a:cs typeface="Arial"/>
              </a:rPr>
              <a:t>i</a:t>
            </a:r>
            <a:r>
              <a:rPr dirty="0" baseline="10683" sz="1950" spc="-1575">
                <a:solidFill>
                  <a:srgbClr val="3156B8"/>
                </a:solidFill>
                <a:latin typeface="Arial"/>
                <a:cs typeface="Arial"/>
              </a:rPr>
              <a:t>m</a:t>
            </a:r>
            <a:r>
              <a:rPr dirty="0" sz="1000" spc="-10">
                <a:solidFill>
                  <a:srgbClr val="14203E"/>
                </a:solidFill>
                <a:latin typeface="Arial"/>
                <a:cs typeface="Arial"/>
              </a:rPr>
              <a:t>m</a:t>
            </a:r>
            <a:r>
              <a:rPr dirty="0" sz="1000" spc="-360">
                <a:solidFill>
                  <a:srgbClr val="14203E"/>
                </a:solidFill>
                <a:latin typeface="Arial"/>
                <a:cs typeface="Arial"/>
              </a:rPr>
              <a:t>a</a:t>
            </a:r>
            <a:r>
              <a:rPr dirty="0" baseline="10683" sz="1950" spc="-562">
                <a:solidFill>
                  <a:srgbClr val="3156B8"/>
                </a:solidFill>
                <a:latin typeface="Arial"/>
                <a:cs typeface="Arial"/>
              </a:rPr>
              <a:t>u</a:t>
            </a:r>
            <a:r>
              <a:rPr dirty="0" sz="1000" spc="-190">
                <a:solidFill>
                  <a:srgbClr val="14203E"/>
                </a:solidFill>
                <a:latin typeface="Arial"/>
                <a:cs typeface="Arial"/>
              </a:rPr>
              <a:t>n</a:t>
            </a:r>
            <a:r>
              <a:rPr dirty="0" baseline="10683" sz="1950" spc="-7">
                <a:solidFill>
                  <a:srgbClr val="3156B8"/>
                </a:solidFill>
                <a:latin typeface="Arial"/>
                <a:cs typeface="Arial"/>
              </a:rPr>
              <a:t>l</a:t>
            </a:r>
            <a:r>
              <a:rPr dirty="0" baseline="10683" sz="1950" spc="-832">
                <a:solidFill>
                  <a:srgbClr val="3156B8"/>
                </a:solidFill>
                <a:latin typeface="Arial"/>
                <a:cs typeface="Arial"/>
              </a:rPr>
              <a:t>a</a:t>
            </a:r>
            <a:r>
              <a:rPr dirty="0" sz="1000" spc="-15">
                <a:solidFill>
                  <a:srgbClr val="14203E"/>
                </a:solidFill>
                <a:latin typeface="Arial"/>
                <a:cs typeface="Arial"/>
              </a:rPr>
              <a:t>n</a:t>
            </a:r>
            <a:r>
              <a:rPr dirty="0" baseline="10683" sz="1950" spc="-960">
                <a:solidFill>
                  <a:srgbClr val="3156B8"/>
                </a:solidFill>
                <a:latin typeface="Arial"/>
                <a:cs typeface="Arial"/>
              </a:rPr>
              <a:t>s</a:t>
            </a:r>
            <a:r>
              <a:rPr dirty="0" sz="1000" spc="-5">
                <a:solidFill>
                  <a:srgbClr val="14203E"/>
                </a:solidFill>
                <a:latin typeface="Arial"/>
                <a:cs typeface="Arial"/>
              </a:rPr>
              <a:t>y</a:t>
            </a:r>
            <a:r>
              <a:rPr dirty="0" sz="1000" spc="-420">
                <a:solidFill>
                  <a:srgbClr val="14203E"/>
                </a:solidFill>
                <a:latin typeface="Arial"/>
                <a:cs typeface="Arial"/>
              </a:rPr>
              <a:t>a</a:t>
            </a:r>
            <a:r>
              <a:rPr dirty="0" baseline="10683" sz="1950">
                <a:solidFill>
                  <a:srgbClr val="3156B8"/>
                </a:solidFill>
                <a:latin typeface="Arial"/>
                <a:cs typeface="Arial"/>
              </a:rPr>
              <a:t>i</a:t>
            </a:r>
            <a:r>
              <a:rPr dirty="0" baseline="10683" sz="1950" spc="-330">
                <a:solidFill>
                  <a:srgbClr val="3156B8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14203E"/>
                </a:solidFill>
                <a:latin typeface="Arial"/>
                <a:cs typeface="Arial"/>
              </a:rPr>
              <a:t>ta.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830156" y="1433093"/>
            <a:ext cx="3765550" cy="596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Seorang</a:t>
            </a:r>
            <a:r>
              <a:rPr dirty="0" sz="100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teman</a:t>
            </a:r>
            <a:r>
              <a:rPr dirty="0" sz="1000" spc="-2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atau</a:t>
            </a:r>
            <a:r>
              <a:rPr dirty="0" sz="1000" spc="-2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oknum</a:t>
            </a:r>
            <a:r>
              <a:rPr dirty="0" sz="1000" spc="-2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lingkungan</a:t>
            </a:r>
            <a:r>
              <a:rPr dirty="0" sz="1000" spc="-2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mencoba</a:t>
            </a:r>
            <a:r>
              <a:rPr dirty="0" sz="1000" spc="-2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merayu</a:t>
            </a:r>
            <a:r>
              <a:rPr dirty="0" sz="1000" spc="-2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14203E"/>
                </a:solidFill>
                <a:latin typeface="Arial"/>
                <a:cs typeface="Arial"/>
              </a:rPr>
              <a:t>atau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memaksa</a:t>
            </a:r>
            <a:r>
              <a:rPr dirty="0" sz="1000" spc="-3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untuk</a:t>
            </a:r>
            <a:r>
              <a:rPr dirty="0" sz="1000" spc="-2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mencoba</a:t>
            </a:r>
            <a:r>
              <a:rPr dirty="0" sz="1000" spc="-2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14203E"/>
                </a:solidFill>
                <a:latin typeface="Arial"/>
                <a:cs typeface="Arial"/>
              </a:rPr>
              <a:t>hal-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hal</a:t>
            </a:r>
            <a:r>
              <a:rPr dirty="0" sz="1000" spc="-2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negatif.</a:t>
            </a:r>
            <a:r>
              <a:rPr dirty="0" sz="1000" spc="-2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Tunjukkan</a:t>
            </a:r>
            <a:r>
              <a:rPr dirty="0" sz="1000" spc="-2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cara</a:t>
            </a:r>
            <a:r>
              <a:rPr dirty="0" sz="1000" spc="-20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14203E"/>
                </a:solidFill>
                <a:latin typeface="Arial"/>
                <a:cs typeface="Arial"/>
              </a:rPr>
              <a:t>menolak </a:t>
            </a:r>
            <a:r>
              <a:rPr dirty="0" sz="1000">
                <a:solidFill>
                  <a:srgbClr val="14203E"/>
                </a:solidFill>
                <a:latin typeface="Arial"/>
                <a:cs typeface="Arial"/>
              </a:rPr>
              <a:t>yang</a:t>
            </a:r>
            <a:r>
              <a:rPr dirty="0" sz="1000" spc="-1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14203E"/>
                </a:solidFill>
                <a:latin typeface="Arial"/>
                <a:cs typeface="Arial"/>
              </a:rPr>
              <a:t>efektif!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496119" y="505419"/>
            <a:ext cx="1941195" cy="266700"/>
          </a:xfrm>
          <a:custGeom>
            <a:avLst/>
            <a:gdLst/>
            <a:ahLst/>
            <a:cxnLst/>
            <a:rect l="l" t="t" r="r" b="b"/>
            <a:pathLst>
              <a:path w="1941195" h="266700">
                <a:moveTo>
                  <a:pt x="1933333" y="0"/>
                </a:moveTo>
                <a:lnTo>
                  <a:pt x="7679" y="0"/>
                </a:lnTo>
                <a:lnTo>
                  <a:pt x="0" y="7683"/>
                </a:lnTo>
                <a:lnTo>
                  <a:pt x="0" y="17017"/>
                </a:lnTo>
                <a:lnTo>
                  <a:pt x="0" y="258724"/>
                </a:lnTo>
                <a:lnTo>
                  <a:pt x="7679" y="266407"/>
                </a:lnTo>
                <a:lnTo>
                  <a:pt x="1933333" y="266407"/>
                </a:lnTo>
                <a:lnTo>
                  <a:pt x="1941017" y="258724"/>
                </a:lnTo>
                <a:lnTo>
                  <a:pt x="1941017" y="7683"/>
                </a:lnTo>
                <a:lnTo>
                  <a:pt x="1933333" y="0"/>
                </a:lnTo>
                <a:close/>
              </a:path>
            </a:pathLst>
          </a:custGeom>
          <a:solidFill>
            <a:srgbClr val="D6DF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68473" y="532924"/>
            <a:ext cx="182372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14203E"/>
                </a:solidFill>
                <a:latin typeface="Arial"/>
                <a:cs typeface="Arial"/>
              </a:rPr>
              <a:t>EVALUASI</a:t>
            </a:r>
            <a:r>
              <a:rPr dirty="0" sz="850" spc="-1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4203E"/>
                </a:solidFill>
                <a:latin typeface="Arial"/>
                <a:cs typeface="Arial"/>
              </a:rPr>
              <a:t>&amp;</a:t>
            </a:r>
            <a:r>
              <a:rPr dirty="0" sz="850" spc="-10">
                <a:solidFill>
                  <a:srgbClr val="14203E"/>
                </a:solidFill>
                <a:latin typeface="Arial"/>
                <a:cs typeface="Arial"/>
              </a:rPr>
              <a:t> KOMITMEN</a:t>
            </a:r>
            <a:r>
              <a:rPr dirty="0" sz="850" spc="-15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14203E"/>
                </a:solidFill>
                <a:latin typeface="Arial"/>
                <a:cs typeface="Arial"/>
              </a:rPr>
              <a:t>BERSAMA</a:t>
            </a:r>
            <a:endParaRPr sz="85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83419" y="808435"/>
            <a:ext cx="4003040" cy="880744"/>
          </a:xfrm>
          <a:prstGeom prst="rect"/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ts val="3429"/>
              </a:lnSpc>
              <a:spcBef>
                <a:spcPts val="70"/>
              </a:spcBef>
            </a:pPr>
            <a:r>
              <a:rPr dirty="0" sz="2750"/>
              <a:t>Evaluasi</a:t>
            </a:r>
            <a:r>
              <a:rPr dirty="0" sz="2750" spc="-35"/>
              <a:t> </a:t>
            </a:r>
            <a:r>
              <a:rPr dirty="0" sz="2750"/>
              <a:t>Kilat</a:t>
            </a:r>
            <a:r>
              <a:rPr dirty="0" sz="2750" spc="-35"/>
              <a:t> </a:t>
            </a:r>
            <a:r>
              <a:rPr dirty="0" sz="2750"/>
              <a:t>&amp;</a:t>
            </a:r>
            <a:r>
              <a:rPr dirty="0" sz="2750" spc="-35"/>
              <a:t> </a:t>
            </a:r>
            <a:r>
              <a:rPr dirty="0" sz="2750" spc="-10"/>
              <a:t>Deklarasi </a:t>
            </a:r>
            <a:r>
              <a:rPr dirty="0" sz="2750"/>
              <a:t>Hidup</a:t>
            </a:r>
            <a:r>
              <a:rPr dirty="0" sz="2750" spc="-20"/>
              <a:t> </a:t>
            </a:r>
            <a:r>
              <a:rPr dirty="0" sz="2750" spc="-10"/>
              <a:t>Sehat</a:t>
            </a:r>
            <a:endParaRPr sz="2750"/>
          </a:p>
        </p:txBody>
      </p:sp>
      <p:grpSp>
        <p:nvGrpSpPr>
          <p:cNvPr id="6" name="object 6" descr=""/>
          <p:cNvGrpSpPr/>
          <p:nvPr/>
        </p:nvGrpSpPr>
        <p:grpSpPr>
          <a:xfrm>
            <a:off x="496119" y="2540203"/>
            <a:ext cx="4723130" cy="779780"/>
            <a:chOff x="496119" y="2540203"/>
            <a:chExt cx="4723130" cy="779780"/>
          </a:xfrm>
        </p:grpSpPr>
        <p:sp>
          <p:nvSpPr>
            <p:cNvPr id="7" name="object 7" descr=""/>
            <p:cNvSpPr/>
            <p:nvPr/>
          </p:nvSpPr>
          <p:spPr>
            <a:xfrm>
              <a:off x="496119" y="2540203"/>
              <a:ext cx="4723130" cy="779780"/>
            </a:xfrm>
            <a:custGeom>
              <a:avLst/>
              <a:gdLst/>
              <a:ahLst/>
              <a:cxnLst/>
              <a:rect l="l" t="t" r="r" b="b"/>
              <a:pathLst>
                <a:path w="4723130" h="779779">
                  <a:moveTo>
                    <a:pt x="4701501" y="0"/>
                  </a:moveTo>
                  <a:lnTo>
                    <a:pt x="21266" y="0"/>
                  </a:lnTo>
                  <a:lnTo>
                    <a:pt x="13021" y="1682"/>
                  </a:lnTo>
                  <a:lnTo>
                    <a:pt x="6258" y="6257"/>
                  </a:lnTo>
                  <a:lnTo>
                    <a:pt x="1682" y="13019"/>
                  </a:lnTo>
                  <a:lnTo>
                    <a:pt x="0" y="21259"/>
                  </a:lnTo>
                  <a:lnTo>
                    <a:pt x="0" y="758291"/>
                  </a:lnTo>
                  <a:lnTo>
                    <a:pt x="1682" y="766539"/>
                  </a:lnTo>
                  <a:lnTo>
                    <a:pt x="6258" y="773304"/>
                  </a:lnTo>
                  <a:lnTo>
                    <a:pt x="13021" y="777881"/>
                  </a:lnTo>
                  <a:lnTo>
                    <a:pt x="21266" y="779564"/>
                  </a:lnTo>
                  <a:lnTo>
                    <a:pt x="4701501" y="779564"/>
                  </a:lnTo>
                  <a:lnTo>
                    <a:pt x="4709742" y="777881"/>
                  </a:lnTo>
                  <a:lnTo>
                    <a:pt x="4716503" y="773304"/>
                  </a:lnTo>
                  <a:lnTo>
                    <a:pt x="4721079" y="766539"/>
                  </a:lnTo>
                  <a:lnTo>
                    <a:pt x="4722761" y="758291"/>
                  </a:lnTo>
                  <a:lnTo>
                    <a:pt x="4722761" y="21259"/>
                  </a:lnTo>
                  <a:lnTo>
                    <a:pt x="4721079" y="13019"/>
                  </a:lnTo>
                  <a:lnTo>
                    <a:pt x="4716503" y="6257"/>
                  </a:lnTo>
                  <a:lnTo>
                    <a:pt x="4709742" y="1682"/>
                  </a:lnTo>
                  <a:lnTo>
                    <a:pt x="4701501" y="0"/>
                  </a:lnTo>
                  <a:close/>
                </a:path>
              </a:pathLst>
            </a:custGeom>
            <a:solidFill>
              <a:srgbClr val="B6D5F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7876" y="2740964"/>
              <a:ext cx="177180" cy="141757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4440" y="2706560"/>
              <a:ext cx="82550" cy="161925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000"/>
              </a:lnSpc>
              <a:spcBef>
                <a:spcPts val="100"/>
              </a:spcBef>
            </a:pPr>
            <a:r>
              <a:rPr dirty="0"/>
              <a:t>Uji</a:t>
            </a:r>
            <a:r>
              <a:rPr dirty="0" spc="-40"/>
              <a:t> </a:t>
            </a:r>
            <a:r>
              <a:rPr dirty="0"/>
              <a:t>pemahamanmu</a:t>
            </a:r>
            <a:r>
              <a:rPr dirty="0" spc="-35"/>
              <a:t> </a:t>
            </a:r>
            <a:r>
              <a:rPr dirty="0"/>
              <a:t>tentang</a:t>
            </a:r>
            <a:r>
              <a:rPr dirty="0" spc="-35"/>
              <a:t> </a:t>
            </a:r>
            <a:r>
              <a:rPr dirty="0"/>
              <a:t>dampak</a:t>
            </a:r>
            <a:r>
              <a:rPr dirty="0" spc="-35"/>
              <a:t> </a:t>
            </a:r>
            <a:r>
              <a:rPr dirty="0"/>
              <a:t>narkoba</a:t>
            </a:r>
            <a:r>
              <a:rPr dirty="0" spc="-40"/>
              <a:t> </a:t>
            </a:r>
            <a:r>
              <a:rPr dirty="0"/>
              <a:t>melalui</a:t>
            </a:r>
            <a:r>
              <a:rPr dirty="0" spc="-35"/>
              <a:t> </a:t>
            </a:r>
            <a:r>
              <a:rPr dirty="0"/>
              <a:t>kuis</a:t>
            </a:r>
            <a:r>
              <a:rPr dirty="0" spc="-35"/>
              <a:t> </a:t>
            </a:r>
            <a:r>
              <a:rPr dirty="0"/>
              <a:t>digital</a:t>
            </a:r>
            <a:r>
              <a:rPr dirty="0" spc="-35"/>
              <a:t> </a:t>
            </a:r>
            <a:r>
              <a:rPr dirty="0" spc="-10"/>
              <a:t>interaktif. </a:t>
            </a:r>
            <a:r>
              <a:rPr dirty="0"/>
              <a:t>Pindai</a:t>
            </a:r>
            <a:r>
              <a:rPr dirty="0" spc="-25"/>
              <a:t> </a:t>
            </a:r>
            <a:r>
              <a:rPr dirty="0"/>
              <a:t>kode</a:t>
            </a:r>
            <a:r>
              <a:rPr dirty="0" spc="-25"/>
              <a:t> </a:t>
            </a:r>
            <a:r>
              <a:rPr dirty="0"/>
              <a:t>QR</a:t>
            </a:r>
            <a:r>
              <a:rPr dirty="0" spc="-25"/>
              <a:t> </a:t>
            </a:r>
            <a:r>
              <a:rPr dirty="0"/>
              <a:t>berikut</a:t>
            </a:r>
            <a:r>
              <a:rPr dirty="0" spc="-25"/>
              <a:t> </a:t>
            </a:r>
            <a:r>
              <a:rPr dirty="0"/>
              <a:t>untuk</a:t>
            </a:r>
            <a:r>
              <a:rPr dirty="0" spc="-25"/>
              <a:t> </a:t>
            </a:r>
            <a:r>
              <a:rPr dirty="0" spc="-10"/>
              <a:t>memulai!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15"/>
              </a:spcBef>
            </a:pPr>
          </a:p>
          <a:p>
            <a:pPr marL="473075" marR="227965" indent="215900">
              <a:lnSpc>
                <a:spcPct val="137100"/>
              </a:lnSpc>
            </a:pPr>
            <a:r>
              <a:rPr dirty="0" b="1">
                <a:solidFill>
                  <a:srgbClr val="000000"/>
                </a:solidFill>
                <a:latin typeface="Arial"/>
                <a:cs typeface="Arial"/>
              </a:rPr>
              <a:t>Kode</a:t>
            </a:r>
            <a:r>
              <a:rPr dirty="0" spc="-2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b="1">
                <a:solidFill>
                  <a:srgbClr val="000000"/>
                </a:solidFill>
                <a:latin typeface="Arial"/>
                <a:cs typeface="Arial"/>
              </a:rPr>
              <a:t>QR</a:t>
            </a:r>
            <a:r>
              <a:rPr dirty="0" spc="-2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b="1">
                <a:solidFill>
                  <a:srgbClr val="000000"/>
                </a:solidFill>
                <a:latin typeface="Arial"/>
                <a:cs typeface="Arial"/>
              </a:rPr>
              <a:t>Kuis</a:t>
            </a:r>
            <a:r>
              <a:rPr dirty="0" spc="-2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b="1">
                <a:solidFill>
                  <a:srgbClr val="000000"/>
                </a:solidFill>
                <a:latin typeface="Arial"/>
                <a:cs typeface="Arial"/>
              </a:rPr>
              <a:t>Digital</a:t>
            </a:r>
            <a:r>
              <a:rPr dirty="0" spc="-15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0000"/>
                </a:solidFill>
              </a:rPr>
              <a:t>—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Scan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untuk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mengakses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Kahoot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 spc="-50">
                <a:solidFill>
                  <a:srgbClr val="000000"/>
                </a:solidFill>
              </a:rPr>
              <a:t>/ </a:t>
            </a:r>
            <a:r>
              <a:rPr dirty="0">
                <a:solidFill>
                  <a:srgbClr val="000000"/>
                </a:solidFill>
              </a:rPr>
              <a:t>Google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Form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evaluasi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pemahaman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dampak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narkoba.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696019" y="3567722"/>
            <a:ext cx="4008754" cy="6946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14203E"/>
                </a:solidFill>
                <a:latin typeface="Arial"/>
                <a:cs typeface="Arial"/>
              </a:rPr>
              <a:t>"Kekuatan</a:t>
            </a:r>
            <a:r>
              <a:rPr dirty="0" sz="1100" spc="-30" b="1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4203E"/>
                </a:solidFill>
                <a:latin typeface="Arial"/>
                <a:cs typeface="Arial"/>
              </a:rPr>
              <a:t>terbesar</a:t>
            </a:r>
            <a:r>
              <a:rPr dirty="0" sz="1100" spc="-25" b="1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4203E"/>
                </a:solidFill>
                <a:latin typeface="Arial"/>
                <a:cs typeface="Arial"/>
              </a:rPr>
              <a:t>untuk</a:t>
            </a:r>
            <a:r>
              <a:rPr dirty="0" sz="1100" spc="-30" b="1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4203E"/>
                </a:solidFill>
                <a:latin typeface="Arial"/>
                <a:cs typeface="Arial"/>
              </a:rPr>
              <a:t>melindungi</a:t>
            </a:r>
            <a:r>
              <a:rPr dirty="0" sz="1100" spc="-25" b="1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4203E"/>
                </a:solidFill>
                <a:latin typeface="Arial"/>
                <a:cs typeface="Arial"/>
              </a:rPr>
              <a:t>masa</a:t>
            </a:r>
            <a:r>
              <a:rPr dirty="0" sz="1100" spc="-25" b="1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14203E"/>
                </a:solidFill>
                <a:latin typeface="Arial"/>
                <a:cs typeface="Arial"/>
              </a:rPr>
              <a:t>depanmu</a:t>
            </a:r>
            <a:r>
              <a:rPr dirty="0" sz="1100" spc="-30" b="1">
                <a:solidFill>
                  <a:srgbClr val="14203E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4203E"/>
                </a:solidFill>
                <a:latin typeface="Arial"/>
                <a:cs typeface="Arial"/>
              </a:rPr>
              <a:t>ada</a:t>
            </a:r>
            <a:r>
              <a:rPr dirty="0" sz="1100" spc="-25" b="1">
                <a:solidFill>
                  <a:srgbClr val="14203E"/>
                </a:solidFill>
                <a:latin typeface="Arial"/>
                <a:cs typeface="Arial"/>
              </a:rPr>
              <a:t> di </a:t>
            </a:r>
            <a:r>
              <a:rPr dirty="0" sz="1100" spc="-10" b="1">
                <a:solidFill>
                  <a:srgbClr val="14203E"/>
                </a:solidFill>
                <a:latin typeface="Arial"/>
                <a:cs typeface="Arial"/>
              </a:rPr>
              <a:t>tanganmu sendiri."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100" b="1">
                <a:solidFill>
                  <a:srgbClr val="3156B8"/>
                </a:solidFill>
                <a:latin typeface="Arial"/>
                <a:cs typeface="Arial"/>
              </a:rPr>
              <a:t>Say</a:t>
            </a:r>
            <a:r>
              <a:rPr dirty="0" sz="1100" spc="-25" b="1">
                <a:solidFill>
                  <a:srgbClr val="3156B8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3156B8"/>
                </a:solidFill>
                <a:latin typeface="Arial"/>
                <a:cs typeface="Arial"/>
              </a:rPr>
              <a:t>No</a:t>
            </a:r>
            <a:r>
              <a:rPr dirty="0" sz="1100" spc="-20" b="1">
                <a:solidFill>
                  <a:srgbClr val="3156B8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3156B8"/>
                </a:solidFill>
                <a:latin typeface="Arial"/>
                <a:cs typeface="Arial"/>
              </a:rPr>
              <a:t>to</a:t>
            </a:r>
            <a:r>
              <a:rPr dirty="0" sz="1100" spc="-20" b="1">
                <a:solidFill>
                  <a:srgbClr val="3156B8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3156B8"/>
                </a:solidFill>
                <a:latin typeface="Arial"/>
                <a:cs typeface="Arial"/>
              </a:rPr>
              <a:t>Drugs,</a:t>
            </a:r>
            <a:r>
              <a:rPr dirty="0" sz="1100" spc="-25" b="1">
                <a:solidFill>
                  <a:srgbClr val="3156B8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3156B8"/>
                </a:solidFill>
                <a:latin typeface="Arial"/>
                <a:cs typeface="Arial"/>
              </a:rPr>
              <a:t>Say</a:t>
            </a:r>
            <a:r>
              <a:rPr dirty="0" sz="1100" spc="-20" b="1">
                <a:solidFill>
                  <a:srgbClr val="3156B8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3156B8"/>
                </a:solidFill>
                <a:latin typeface="Arial"/>
                <a:cs typeface="Arial"/>
              </a:rPr>
              <a:t>Yes</a:t>
            </a:r>
            <a:r>
              <a:rPr dirty="0" sz="1100" spc="-20" b="1">
                <a:solidFill>
                  <a:srgbClr val="3156B8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3156B8"/>
                </a:solidFill>
                <a:latin typeface="Arial"/>
                <a:cs typeface="Arial"/>
              </a:rPr>
              <a:t>to</a:t>
            </a:r>
            <a:r>
              <a:rPr dirty="0" sz="1100" spc="-20" b="1">
                <a:solidFill>
                  <a:srgbClr val="3156B8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3156B8"/>
                </a:solidFill>
                <a:latin typeface="Arial"/>
                <a:cs typeface="Arial"/>
              </a:rPr>
              <a:t>Sports!</a:t>
            </a:r>
            <a:r>
              <a:rPr dirty="0" sz="1100" spc="-20" b="1">
                <a:solidFill>
                  <a:srgbClr val="3156B8"/>
                </a:solidFill>
                <a:latin typeface="Arial"/>
                <a:cs typeface="Arial"/>
              </a:rPr>
              <a:t> </a:t>
            </a:r>
            <a:r>
              <a:rPr dirty="0" sz="1100" spc="235">
                <a:latin typeface="Segoe UI Symbol"/>
                <a:cs typeface="Segoe UI Symbol"/>
              </a:rPr>
              <a:t>💪</a:t>
            </a:r>
            <a:endParaRPr sz="11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2026-06-10T03:19:02Z</dcterms:created>
  <dcterms:modified xsi:type="dcterms:W3CDTF">2026-06-10T03:19:02Z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2026-06-10T00:00:00Z</vt:filetime>
  </property>
  <property fmtid="{D5CDD505-2E9C-101B-9397-08002B2CF9AE}" pid="3" name="LastSaved">
    <vt:filetime>2026-06-10T00:00:00Z</vt:filetime>
  </property>
  <property fmtid="{D5CDD505-2E9C-101B-9397-08002B2CF9AE}" pid="4" name="Producer">
    <vt:lpwstr>3-Heights(TM) PDF Security Shell 4.8.25.2 (http://www.pdf-tools.com)</vt:lpwstr>
  </property>
</Properties>
</file>